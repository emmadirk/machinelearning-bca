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716A-BF1F-909F-B5D0-BD5954299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A3FDD-BBA1-2A59-63D0-0522A02B1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6DB9C-6BDF-0DDB-22AD-B474E3B05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36324-1E5E-8639-8072-F7C59BB3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B3704-1847-5CA0-F165-49AB4B06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9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6D3D-01B8-89C0-47FC-C5DBA270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15132-1512-F377-3E95-A6C8ADA35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F6FC-C9A6-E12D-1FDA-A8AE74A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EB2C4-5205-E581-1980-868A5280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2F439-3C1C-7C54-FA48-C09E72EE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E833-7692-3648-1744-EF0F46682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6EE92-3357-608D-7D76-71AA21AA7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349A1-7072-6F3D-F029-4174FAE41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9FD33-5BE3-9BC6-522D-CB4E9A38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3B2CF-4052-4C41-43D4-0E1D7FA88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9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0A2E-53F3-82C6-ADF7-A2895A16D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3C67-7FAA-E8BD-17D6-E420FE1D1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88091-CB00-683B-CB78-B554D42C4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003EC-F905-0FC3-62E4-C327255F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0DA71-1DB4-04AA-A9FC-9EF43868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8068C-19DB-1528-80E7-A42DDB54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3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B445-1907-AF66-44BA-955280ACD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3F0CB-0F2F-14B0-0E25-DCF12D730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BFFC5-B8FF-6D3D-F7ED-ED6E5BE9C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E8076-4328-92B2-14C5-89591AB34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B84470-3457-E4A4-F55B-441D7EE35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C5FFBA-9908-CECC-A44D-D53A3DB67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8B2CC6-7CA4-C666-0655-B14804E48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F3CA9-AE85-B6CF-D717-FF62FA66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1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DAF6-D794-D168-1641-474C8C4D7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FE9B03-49A7-DF8A-9CE8-F050C3AE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2C531-AC4D-A577-862F-613EEFBB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78D93-193F-009C-5371-20C1172E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06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E4081-FDD0-0FFF-D274-4AA1CDE2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70BEB0-A7F8-8308-4A0C-8F2E3DDC8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C4D11-AB3D-9316-62FA-E1276256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0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8A9D-65AC-EA33-FEC9-C231B3152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E21FB-E516-F186-169C-B22E20A4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559AB-F192-2DFD-E67B-C626D40CD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F22F9-7FC5-8A61-D054-7CB19AFC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64EAA-85D4-C09F-5A0C-138DF731D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96136-24DB-21A8-B480-E80333D0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6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A74C-2A73-479A-FD25-EC24BC6E5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764E7-F0EC-6171-8320-A8FEAD3EE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41F89-F96D-93BD-14AF-6F37A1953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D3FA2-893A-98A2-3DC2-164AB69C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B053B-D7F8-E958-E6BF-4AF1D706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DBAD4-F692-B6C3-7476-F3458A1C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3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ABFE2-B8A4-F4E4-E9E2-0A767B7A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EC751-A87E-6FD5-EDD1-5F1195D32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91450-1DE1-D678-94AF-A48ED83D3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7BD58-B5CF-273D-7ABC-291E2D85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A1125-364A-A3D5-CE29-757CB280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38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51D71-4D8D-0F67-535A-0F5A278A20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C9DB6-EE7D-742A-66C8-63FDBE7E7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CB181-B6A2-3DB7-3CAB-6A9B5FA1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F88F9-D15E-DBA9-40D3-1EA1F5473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9FBF7-5B9D-B735-4CB4-FCEBB0A3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6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2819F-AB42-A585-2D31-7099F123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94E0A-E97D-78D6-3F63-3FC228FA2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D0B31-5B69-5C3C-988F-55E73A05D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C2447-2EA4-4E44-AB8D-C4FC61A7E73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80D29-7D90-613D-CB6C-D151EFC99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F4DC6-00D1-1E67-4F1F-F358A73C6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1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3B58-8DAC-76BA-E20A-04A52F48C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0981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B</a:t>
            </a:r>
            <a:r>
              <a:rPr lang="en-US" dirty="0"/>
              <a:t>aseline</a:t>
            </a:r>
            <a:br>
              <a:rPr lang="en-US" dirty="0"/>
            </a:br>
            <a:r>
              <a:rPr lang="en-US" b="1" dirty="0"/>
              <a:t>C</a:t>
            </a:r>
            <a:r>
              <a:rPr lang="en-US" dirty="0"/>
              <a:t>ovariate</a:t>
            </a:r>
            <a:br>
              <a:rPr lang="en-US" dirty="0"/>
            </a:br>
            <a:r>
              <a:rPr lang="en-US" b="1" dirty="0"/>
              <a:t>A</a:t>
            </a:r>
            <a:r>
              <a:rPr lang="en-US" dirty="0"/>
              <a:t>djustment</a:t>
            </a:r>
            <a:br>
              <a:rPr lang="en-US" dirty="0"/>
            </a:br>
            <a:r>
              <a:rPr lang="en-US" sz="2800" dirty="0"/>
              <a:t>For longitudinal research in the social sciences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634284-67D4-C83C-03EC-EAF69F5C4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4657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Mano van Holten</a:t>
            </a:r>
          </a:p>
        </p:txBody>
      </p:sp>
    </p:spTree>
    <p:extLst>
      <p:ext uri="{BB962C8B-B14F-4D97-AF65-F5344CB8AC3E}">
        <p14:creationId xmlns:p14="http://schemas.microsoft.com/office/powerpoint/2010/main" val="301844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430D-AA7C-C8EA-B9A2-2518C4B21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CAF776-BAEE-6280-CDE6-931E42469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0"/>
            <a:ext cx="7873657" cy="7353701"/>
          </a:xfrm>
        </p:spPr>
      </p:pic>
    </p:spTree>
    <p:extLst>
      <p:ext uri="{BB962C8B-B14F-4D97-AF65-F5344CB8AC3E}">
        <p14:creationId xmlns:p14="http://schemas.microsoft.com/office/powerpoint/2010/main" val="4126964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73317E-109D-820F-0400-81B36B07D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Panel data</a:t>
            </a:r>
          </a:p>
        </p:txBody>
      </p:sp>
      <p:pic>
        <p:nvPicPr>
          <p:cNvPr id="4" name="Content Placeholder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2CB26661-8CB1-771B-B488-A54B12450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612285"/>
            <a:ext cx="7188199" cy="363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29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8C4E4-8C2D-A8A0-1D66-17DCC1726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29056A-F4A1-8C97-B6E5-12CA8D740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A76E22-A707-8728-53AE-54B660C1C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961D0-1098-8656-4027-4B3C50D6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Confounders</a:t>
            </a:r>
          </a:p>
        </p:txBody>
      </p:sp>
      <p:pic>
        <p:nvPicPr>
          <p:cNvPr id="3" name="Content Placeholder 6" descr="A diagram of a person's mind&#10;&#10;AI-generated content may be incorrect.">
            <a:extLst>
              <a:ext uri="{FF2B5EF4-FFF2-40B4-BE49-F238E27FC236}">
                <a16:creationId xmlns:a16="http://schemas.microsoft.com/office/drawing/2014/main" id="{2BBE7BFC-AA30-F0BE-FFDB-48CE6D3FA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514" y="1059130"/>
            <a:ext cx="76216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1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3C327-9010-80CB-09F1-63A59DCA6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45F7FA-42AF-6F5B-5D03-311334E61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D4108D-FEF7-7E91-A230-D4E675997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D87FE-A1EE-4B0D-BA7C-5A8F5C94D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Solution: 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RI-CLPM</a:t>
            </a:r>
          </a:p>
        </p:txBody>
      </p:sp>
      <p:pic>
        <p:nvPicPr>
          <p:cNvPr id="7" name="Content Placeholder 4" descr="A comparison of angles and angles&#10;&#10;AI-generated content may be incorrect.">
            <a:extLst>
              <a:ext uri="{FF2B5EF4-FFF2-40B4-BE49-F238E27FC236}">
                <a16:creationId xmlns:a16="http://schemas.microsoft.com/office/drawing/2014/main" id="{7F8256D9-D0E1-D68D-2860-5BD8C6AE4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325" b="22126"/>
          <a:stretch>
            <a:fillRect/>
          </a:stretch>
        </p:blipFill>
        <p:spPr>
          <a:xfrm>
            <a:off x="3797476" y="643466"/>
            <a:ext cx="6233341" cy="55710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0F72DD-59D1-F7CE-2A80-7CAB0099216E}"/>
              </a:ext>
            </a:extLst>
          </p:cNvPr>
          <p:cNvSpPr txBox="1"/>
          <p:nvPr/>
        </p:nvSpPr>
        <p:spPr>
          <a:xfrm>
            <a:off x="8345103" y="452387"/>
            <a:ext cx="46698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</a:t>
            </a:r>
            <a:r>
              <a:rPr lang="en-US" dirty="0"/>
              <a:t>andom</a:t>
            </a:r>
          </a:p>
          <a:p>
            <a:r>
              <a:rPr lang="en-US" b="1" dirty="0"/>
              <a:t>I</a:t>
            </a:r>
            <a:r>
              <a:rPr lang="en-US" dirty="0"/>
              <a:t>ntercepts</a:t>
            </a:r>
          </a:p>
          <a:p>
            <a:r>
              <a:rPr lang="en-US" b="1" dirty="0"/>
              <a:t>-</a:t>
            </a:r>
          </a:p>
          <a:p>
            <a:r>
              <a:rPr lang="en-US" b="1" dirty="0"/>
              <a:t>C</a:t>
            </a:r>
            <a:r>
              <a:rPr lang="en-US" dirty="0"/>
              <a:t>ross</a:t>
            </a:r>
          </a:p>
          <a:p>
            <a:r>
              <a:rPr lang="en-US" b="1" dirty="0"/>
              <a:t>L</a:t>
            </a:r>
            <a:r>
              <a:rPr lang="en-US" dirty="0"/>
              <a:t>agged</a:t>
            </a:r>
          </a:p>
          <a:p>
            <a:r>
              <a:rPr lang="en-US" b="1" dirty="0"/>
              <a:t>P</a:t>
            </a:r>
            <a:r>
              <a:rPr lang="en-US" dirty="0"/>
              <a:t>anel</a:t>
            </a:r>
          </a:p>
          <a:p>
            <a:r>
              <a:rPr lang="en-US" b="1" dirty="0"/>
              <a:t>M</a:t>
            </a:r>
            <a:r>
              <a:rPr lang="en-US" dirty="0"/>
              <a:t>odel</a:t>
            </a:r>
            <a:endParaRPr lang="en-US" b="1" dirty="0"/>
          </a:p>
          <a:p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706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22910-980D-8140-3D43-9159042D4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C843A5-6BE1-381F-AF03-FA918F030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23625F-43A9-040C-C51D-DC82C545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7C2D8-7474-4882-4523-C1ED3BE0D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Solution:</a:t>
            </a:r>
            <a:b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Adjustment</a:t>
            </a:r>
          </a:p>
        </p:txBody>
      </p:sp>
      <p:pic>
        <p:nvPicPr>
          <p:cNvPr id="4" name="Content Placeholder 4" descr="A diagram of a diagram of a social media&#10;&#10;AI-generated content may be incorrect.">
            <a:extLst>
              <a:ext uri="{FF2B5EF4-FFF2-40B4-BE49-F238E27FC236}">
                <a16:creationId xmlns:a16="http://schemas.microsoft.com/office/drawing/2014/main" id="{400EDEE0-81CC-0219-318C-C3980B7C6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585" y="1493564"/>
            <a:ext cx="7737263" cy="367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4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8FE59-4627-27A3-932F-F98F7C3F1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78CE4E-4B97-F582-1E42-DE75C3FF0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3E8244-5221-0A17-2041-5CC1B15F6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44FDE-B339-CDFD-8F93-20607BB3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Adjustment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38562E70-0BAF-ADE5-A273-244A62190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061" y="1655545"/>
            <a:ext cx="7763246" cy="370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3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0B42A-AEDD-0D12-2D80-7E87EE9F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1AEFD9-E5F3-83DA-CECA-6877074C4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1A56F1-DA90-6BD3-7825-27BB8A21D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E5E10-76DB-6AE2-6CF7-826FD942B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Adjustment</a:t>
            </a:r>
          </a:p>
        </p:txBody>
      </p:sp>
      <p:pic>
        <p:nvPicPr>
          <p:cNvPr id="3" name="Content Placeholder 4" descr="A diagram of a sm2 age&#10;&#10;AI-generated content may be incorrect.">
            <a:extLst>
              <a:ext uri="{FF2B5EF4-FFF2-40B4-BE49-F238E27FC236}">
                <a16:creationId xmlns:a16="http://schemas.microsoft.com/office/drawing/2014/main" id="{F33C0F1D-83F8-7594-1F4D-BB35C719F6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751" y="643466"/>
            <a:ext cx="745293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12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0B514-8ADF-FE83-B0E9-C2E80B33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FFEC641-6CE1-9E59-D10B-91F99BAE9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470E2-85AC-6756-A51A-341A8BB34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5EDA13-44ED-62EE-3BDD-B26B2DC4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Adjustment</a:t>
            </a:r>
          </a:p>
        </p:txBody>
      </p:sp>
      <p:pic>
        <p:nvPicPr>
          <p:cNvPr id="6" name="Content Placeholder 4" descr="A comparison of angles and angles&#10;&#10;AI-generated content may be incorrect.">
            <a:extLst>
              <a:ext uri="{FF2B5EF4-FFF2-40B4-BE49-F238E27FC236}">
                <a16:creationId xmlns:a16="http://schemas.microsoft.com/office/drawing/2014/main" id="{440E5710-6E78-C8BA-D3A7-64F840796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133" y="1345181"/>
            <a:ext cx="7486540" cy="469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15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F93EF-53E1-C31A-68D0-15C3B04F4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40E1487-A163-11E9-21A8-CD85D6065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F7442-D5AB-D560-A54C-59351BFF1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3DF85-1B8D-E171-5556-B55950833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D1711-0C67-AE14-148F-5A818B5CCD96}"/>
              </a:ext>
            </a:extLst>
          </p:cNvPr>
          <p:cNvSpPr txBox="1"/>
          <p:nvPr/>
        </p:nvSpPr>
        <p:spPr>
          <a:xfrm>
            <a:off x="9163251" y="981777"/>
            <a:ext cx="2165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  <a:r>
              <a:rPr lang="en-US" dirty="0"/>
              <a:t>aseline</a:t>
            </a:r>
          </a:p>
          <a:p>
            <a:r>
              <a:rPr lang="en-US" b="1" dirty="0"/>
              <a:t>C</a:t>
            </a:r>
            <a:r>
              <a:rPr lang="en-US" dirty="0"/>
              <a:t>ovariate</a:t>
            </a:r>
          </a:p>
          <a:p>
            <a:r>
              <a:rPr lang="en-US" b="1" dirty="0"/>
              <a:t>A</a:t>
            </a:r>
            <a:r>
              <a:rPr lang="en-US" dirty="0"/>
              <a:t>djustment</a:t>
            </a:r>
          </a:p>
        </p:txBody>
      </p:sp>
    </p:spTree>
    <p:extLst>
      <p:ext uri="{BB962C8B-B14F-4D97-AF65-F5344CB8AC3E}">
        <p14:creationId xmlns:p14="http://schemas.microsoft.com/office/powerpoint/2010/main" val="2685153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8E8BA-3539-D8F1-B1C3-61C7DC3C9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3739F6-C798-222C-9F3B-F81CBDD7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85E62D-035C-608A-4D31-8C2CDABD2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8097E-4CF2-BFC3-1C61-1BB079DB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Non-linearity</a:t>
            </a:r>
          </a:p>
        </p:txBody>
      </p:sp>
      <p:pic>
        <p:nvPicPr>
          <p:cNvPr id="4" name="Content Placeholder 4" descr="A drawing of a graph&#10;&#10;AI-generated content may be incorrect.">
            <a:extLst>
              <a:ext uri="{FF2B5EF4-FFF2-40B4-BE49-F238E27FC236}">
                <a16:creationId xmlns:a16="http://schemas.microsoft.com/office/drawing/2014/main" id="{2432FA6F-101C-DC03-66E6-8D191800D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095" y="1476765"/>
            <a:ext cx="6812820" cy="44283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459105-DBA7-9E4E-781E-628F971026F1}"/>
              </a:ext>
            </a:extLst>
          </p:cNvPr>
          <p:cNvSpPr txBox="1"/>
          <p:nvPr/>
        </p:nvSpPr>
        <p:spPr>
          <a:xfrm>
            <a:off x="9172876" y="952901"/>
            <a:ext cx="2165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  <a:r>
              <a:rPr lang="en-US" dirty="0"/>
              <a:t>aseline</a:t>
            </a:r>
          </a:p>
          <a:p>
            <a:r>
              <a:rPr lang="en-US" b="1" dirty="0"/>
              <a:t>C</a:t>
            </a:r>
            <a:r>
              <a:rPr lang="en-US" dirty="0"/>
              <a:t>ovariate</a:t>
            </a:r>
          </a:p>
          <a:p>
            <a:r>
              <a:rPr lang="en-US" b="1" dirty="0"/>
              <a:t>A</a:t>
            </a:r>
            <a:r>
              <a:rPr lang="en-US" dirty="0"/>
              <a:t>djustment</a:t>
            </a:r>
          </a:p>
        </p:txBody>
      </p:sp>
    </p:spTree>
    <p:extLst>
      <p:ext uri="{BB962C8B-B14F-4D97-AF65-F5344CB8AC3E}">
        <p14:creationId xmlns:p14="http://schemas.microsoft.com/office/powerpoint/2010/main" val="307623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90E057-DDB1-A5D9-C79A-961DCED08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CBAD2F2-0076-1C5E-9A4A-578E173EB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B8E4C1-EAD1-2B25-63AE-D3439DB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966AE-D2DE-61B6-F0CE-CFC5DA91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Solution: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ML methods</a:t>
            </a:r>
          </a:p>
        </p:txBody>
      </p:sp>
    </p:spTree>
    <p:extLst>
      <p:ext uri="{BB962C8B-B14F-4D97-AF65-F5344CB8AC3E}">
        <p14:creationId xmlns:p14="http://schemas.microsoft.com/office/powerpoint/2010/main" val="2183207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35CB0-E4D0-5BBF-4024-07E2CAC9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62D227C-2FAF-792A-1180-F890CEABB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49E4C9-82AC-7D9B-28E0-8FF6DB272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6E750-F3CE-7F16-D523-9716E613C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Content Placeholder 4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F781A1EB-838F-B404-3C5C-C397D8C24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976" y="643466"/>
            <a:ext cx="518109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17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78</Words>
  <Application>Microsoft Office PowerPoint</Application>
  <PresentationFormat>Widescreen</PresentationFormat>
  <Paragraphs>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Baseline Covariate Adjustment For longitudinal research in the social sciences</vt:lpstr>
      <vt:lpstr>PowerPoint Presentation</vt:lpstr>
      <vt:lpstr>Panel data</vt:lpstr>
      <vt:lpstr>Problem:  Confounders</vt:lpstr>
      <vt:lpstr>Solution:   RI-CLPM</vt:lpstr>
      <vt:lpstr>Solution:  Adjustment</vt:lpstr>
      <vt:lpstr>Solution:  Adjustment</vt:lpstr>
      <vt:lpstr>Problem:  Adjustment</vt:lpstr>
      <vt:lpstr>Problem:  Adjustment</vt:lpstr>
      <vt:lpstr>Solution:  BCA</vt:lpstr>
      <vt:lpstr>Problem:  Non-linearity</vt:lpstr>
      <vt:lpstr>Solution:  ML methods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Holten, E.D. van (Mano)</dc:creator>
  <cp:lastModifiedBy>Holten, E.D. van (Mano)</cp:lastModifiedBy>
  <cp:revision>4</cp:revision>
  <dcterms:created xsi:type="dcterms:W3CDTF">2025-12-01T13:32:56Z</dcterms:created>
  <dcterms:modified xsi:type="dcterms:W3CDTF">2025-12-04T09:50:18Z</dcterms:modified>
</cp:coreProperties>
</file>