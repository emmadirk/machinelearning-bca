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72" r:id="rId4"/>
    <p:sldId id="271" r:id="rId5"/>
    <p:sldId id="261" r:id="rId6"/>
    <p:sldId id="259" r:id="rId7"/>
    <p:sldId id="268" r:id="rId8"/>
    <p:sldId id="262" r:id="rId9"/>
    <p:sldId id="263" r:id="rId10"/>
    <p:sldId id="269" r:id="rId11"/>
    <p:sldId id="270" r:id="rId12"/>
    <p:sldId id="264" r:id="rId13"/>
    <p:sldId id="273" r:id="rId14"/>
    <p:sldId id="274" r:id="rId15"/>
    <p:sldId id="266" r:id="rId16"/>
    <p:sldId id="265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9739" autoAdjust="0"/>
  </p:normalViewPr>
  <p:slideViewPr>
    <p:cSldViewPr snapToGrid="0">
      <p:cViewPr varScale="1">
        <p:scale>
          <a:sx n="66" d="100"/>
          <a:sy n="66" d="100"/>
        </p:scale>
        <p:origin x="1301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9B35F2-97E0-4A15-9BF5-D9D4D1862800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6BC14E-466D-44BA-BA2E-E5EF27323A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19894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Time-invariant confounders 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linear unobserved confounders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non-linear confounders if we know their functional form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BC14E-466D-44BA-BA2E-E5EF27323AA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0998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43AEB-D1E8-1C71-CC3D-AA002BA24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61D0C7-A1D5-A7FC-B0D2-C08DC7EE6D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12E4EC-8B87-3243-D41C-7A0C054727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Time-invariant confounders 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linear unobserved confounders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non-linear confounders if we know their functional form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D6CC11-DF28-5AAC-D41B-14CD1273F1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BC14E-466D-44BA-BA2E-E5EF27323AA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4761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FBE9C0-F457-99D2-BB7D-690551302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217F99-7210-E088-FE8E-7B14184A5D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31D819-9F19-8294-7646-250F84CDEC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Time-invariant confounders 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linear unobserved confounders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non-linear confounders if we know their functional form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ABE946-E307-624F-7D36-711A07161A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BC14E-466D-44BA-BA2E-E5EF27323AA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534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AD3FD-95DB-60EA-A64E-489A94401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B28D6D-DBD1-D4E2-D114-1A33B5C554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E7C7AE-FB4F-35BC-0923-F467537BD5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Time-invariant confounders 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linear unobserved confounders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non-linear confounders if we know their functional form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491DEA-9DB7-9690-E6C2-F59B404CE2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BC14E-466D-44BA-BA2E-E5EF27323AA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0325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31ED9-8C40-C6F7-8E10-08361E25F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26C37E-5BED-8D1F-1A27-7BD9C23823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8A3B1E-4140-2F71-177A-9032D0BE67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Time-invariant confounders 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linear unobserved confounders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non-linear confounders if we know their functional form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6F5E30-3E21-8A47-9AD5-92128F89A1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BC14E-466D-44BA-BA2E-E5EF27323AA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0260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5FA8D-DFC6-6F6A-29F5-CCB911C4D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EFBF52-D3C1-5A82-7176-44362210F1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CC83E3-6A78-943A-27CC-1E86F0F291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Time-invariant confounders 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linear unobserved confounders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non-linear confounders if we know their functional form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74A400-A11F-EFA8-298E-A451A40AEB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BC14E-466D-44BA-BA2E-E5EF27323AA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3298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9BDA5-21F3-9CB9-9BB3-7E7126691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6DEA8F-2104-6BF5-22A3-C08B398922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313F3B-C695-084A-5DFD-CE6A293F02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Time-invariant confounders 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linear unobserved confounders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non-linear confounders if we know their functional form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F4694C-4545-B5D6-74DF-93E2E98731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BC14E-466D-44BA-BA2E-E5EF27323AA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1716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CDB90-8511-E3D3-47B7-07E179368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5A4356-5D00-7D34-C137-8BDAB162AD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CA0BB1-F2BF-8165-142D-49F0386817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Time-invariant confounders 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linear unobserved confounders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non-linear confounders if we know their functional form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F7352D-E9E8-790E-1D34-822CC26DD9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BC14E-466D-44BA-BA2E-E5EF27323AA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3673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1B415-ACC8-7D4A-F444-A8C804DA3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DDC35F-3B7F-B11D-71FE-3573532B71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868BBF-D838-68D2-F204-F59285D044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Time-invariant confounders 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linear unobserved confounders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non-linear confounders if we know their functional form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28C408-5AE1-263E-3B1A-C875BB717D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BC14E-466D-44BA-BA2E-E5EF27323AA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13911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139D6-54C5-1CC3-5826-C87002356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1BDEDB-42BF-FCAE-2CF5-8826B6A042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5ABE35-B307-DDB0-EC9A-C1F0E6A9C2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Time-invariant confounders 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linear unobserved confounders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non-linear confounders if we know their functional form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96A2C8-61E9-1915-FC18-64D12861E8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BC14E-466D-44BA-BA2E-E5EF27323AA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1367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F0815-0D05-F9BD-691C-759E20C08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189C2C-4826-9A1C-D871-64159CB710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B24D93-B3D6-46F2-C4BA-18B8734D11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Time-invariant confounders 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linear unobserved confounders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non-linear confounders if we know their functional form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555C45-59C2-C3A3-6FA3-B925F12D86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BC14E-466D-44BA-BA2E-E5EF27323AA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9547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1BDE20-05C2-0C22-7427-8680B6E4E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CA73BC-3931-DA1E-4453-48267B321F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8EAFFC-0FA6-9F51-1AA7-53E62ABC01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Time-invariant confounders 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linear unobserved confounders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non-linear confounders if we know their functional form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1D7206-1735-C341-B839-61F99A8081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BC14E-466D-44BA-BA2E-E5EF27323AA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32345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1ADBE-F75C-1832-5295-AC0305396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9F7A9D-1237-F58F-5B8C-6C3D23E0AC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8F898C-8934-E83F-A337-5431C584F3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Time-invariant confounders 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linear unobserved confounders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non-linear confounders if we know their functional form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0371C-7C63-E3B7-9155-89FDB1796C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BC14E-466D-44BA-BA2E-E5EF27323AA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9906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A8025-7686-BCCC-7DD1-6B328CFA6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C966E4-CF19-5930-754F-56603D90B6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950276-3093-AC60-EE4B-5019DE7824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Time-invariant confounders 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linear unobserved confounders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non-linear confounders if we know their functional form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0F4A7C-658A-3A43-EFD3-4955121A46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BC14E-466D-44BA-BA2E-E5EF27323AA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90670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39119-89F2-D27F-7FC8-33979217DE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3DF9EA-B2B3-132B-EC35-CD40FFA9EE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916398-DBBC-957E-F314-48FF57C1ED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Time-invariant confounders 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linear unobserved confounders</a:t>
            </a:r>
          </a:p>
          <a:p>
            <a:pPr marL="171450" indent="-171450">
              <a:buFontTx/>
              <a:buChar char="-"/>
            </a:pPr>
            <a:r>
              <a:rPr lang="en-US" dirty="0"/>
              <a:t>Methods exist to deal with non-linear confounders if we know their functional form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9123B6-EF09-4403-EC29-3BD4D03D99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6BC14E-466D-44BA-BA2E-E5EF27323AA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9950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B0269-521F-B1E0-CE70-DC47538A8B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C0D91B-0A37-BA01-93CB-CD39F72105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AFAA83-5C80-218F-69B2-2AF41FC00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AA44F-27F9-41EB-9599-B394A88B5CFE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0D2361-E1A2-2044-69F5-8D02F9C70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052CA3-4352-72C5-D013-12D3B4690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D094C-3C4B-4275-B698-C9C99C3377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023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ECBB8-2CA8-0FA4-B89B-9B393A58D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E6119B-DAC3-7A66-5E88-FF825AA2AF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3B8E7-174F-3A87-B864-1A074FFAF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AA44F-27F9-41EB-9599-B394A88B5CFE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062703-1F6D-2030-A978-671062A49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44CE4A-E364-C4A9-DA33-48429BC77D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D094C-3C4B-4275-B698-C9C99C3377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6658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60460-936B-5B30-A538-7A66E20B9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064A0C-8618-E843-BEA9-F91234856C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844A1A-0F0C-3FC9-9659-0795B6AC8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AA44F-27F9-41EB-9599-B394A88B5CFE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77CB15-8334-D6B1-9BB6-ECDBD9009B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58EDE-C726-6185-0AFB-61FB89B45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D094C-3C4B-4275-B698-C9C99C3377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21755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AB0DE-1E04-8A82-1BA3-996F77C75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BF48B5-70ED-6D81-3AEE-85C321F08B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7B92EF-0AE6-D97C-F8B4-E0D9C585E1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FB7717-67D2-F7A3-2E0B-A9E5BE22E3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AA44F-27F9-41EB-9599-B394A88B5CFE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BC03D3-7DEB-7D4E-46D9-446D2A0EA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2B27E1-3FE5-8D65-130B-AD9458C10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D094C-3C4B-4275-B698-C9C99C3377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15504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94570-F86A-CA5A-A378-B868FCA373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2673DC-6746-BD2F-4A11-D60DE2F218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9543EF-0BC1-EA19-DD7E-DC9C3E20A2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502F41-4D11-FFE8-4D39-82EEBC08A8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4E7D600-2951-F544-6A3B-6EE93C33F4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F8C7BD-4FD2-C978-A1BE-0EECED40E2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AA44F-27F9-41EB-9599-B394A88B5CFE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AC66E2-5577-305C-1DBB-31DCC5E75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E41252F-8FE5-052C-917F-DC10ADEB2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D094C-3C4B-4275-B698-C9C99C3377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8259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A5FAC8-6B89-3C3E-5838-5E87126BA0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4C9B656-84F7-506B-89CD-FB7A3E3FC4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AA44F-27F9-41EB-9599-B394A88B5CFE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5296BD-75D2-93BD-E582-C51E8F32ED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5905FD-1558-E374-B147-F17133C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D094C-3C4B-4275-B698-C9C99C3377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4439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9C2B954-CAB0-58BE-8DDD-81C4CD4F05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AA44F-27F9-41EB-9599-B394A88B5CFE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8A2BBA-3371-914A-2D2E-0646ABED38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B878CA-7ECF-89A4-6B1B-A45FE6D9E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D094C-3C4B-4275-B698-C9C99C3377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54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23A91-DCA7-C7E8-3D9A-CBA167E83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0666C1-5F48-F9AE-4BE4-1FEDA37F82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848917-1B02-1D5E-C068-03F865226F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3600B6-2DC7-052B-E960-13F8A3FE4F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AA44F-27F9-41EB-9599-B394A88B5CFE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38B18D-1859-28F0-E3E8-A3448DB239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7B0586-6616-CE4B-50AB-CF5C77DB5C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D094C-3C4B-4275-B698-C9C99C3377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2957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B8A9B-3087-21ED-DBCB-B93C9A44F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237B8E-1B3B-2869-B158-C93AC2131C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FE3883-141D-B9DE-F661-CC2446E3E8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92D542-712B-0FC3-CCC7-00161A00F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AA44F-27F9-41EB-9599-B394A88B5CFE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5B9F3F-34EE-7747-5F19-D505C2D20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0DBFBB-0EB7-BCB9-F02F-DB58CFDFE2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D094C-3C4B-4275-B698-C9C99C3377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1876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29BA04-C21A-ACE3-2944-6A5D0075C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AE3821-59E2-C522-A1DC-CA2B8DFDA5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5D6406-A95A-332B-EA74-4C1F18F351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AA44F-27F9-41EB-9599-B394A88B5CFE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0DFFBB-3BE8-8B1F-8A15-894243E7FA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9A2330-F073-DA43-BF17-622DFB0D1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D094C-3C4B-4275-B698-C9C99C3377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0180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7F73107-8601-B0F4-BA17-83DE9E0F52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400907-5D6F-797F-6F5C-C39917E4D6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1370AF-9117-0A85-1BDE-989F9D499B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AA44F-27F9-41EB-9599-B394A88B5CFE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3AA184-BA06-7CE8-6D13-6D6C72A87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B3F174-19B6-1EBE-B906-B69BC968A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D094C-3C4B-4275-B698-C9C99C3377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6333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94D6B6-3E60-66FC-1E61-1FFBA43BD6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518182-08C9-68C2-A060-AC3E997E2F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0C5243-F5FC-DBB2-DEBA-807B38B08F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ADAA44F-27F9-41EB-9599-B394A88B5CFE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0E36C-09B9-7165-4771-C9AAED2881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7E4C7B-5CD5-9192-E92B-8D3DEC93E6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1D094C-3C4B-4275-B698-C9C99C3377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9990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65C092-5F60-CC3A-678A-8EE5D9CBDB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14824" y="735106"/>
            <a:ext cx="10053763" cy="2928470"/>
          </a:xfrm>
        </p:spPr>
        <p:txBody>
          <a:bodyPr anchor="b">
            <a:normAutofit/>
          </a:bodyPr>
          <a:lstStyle/>
          <a:p>
            <a:pPr algn="l"/>
            <a:r>
              <a:rPr lang="en-US" sz="4800">
                <a:solidFill>
                  <a:srgbClr val="FFFFFF"/>
                </a:solidFill>
              </a:rPr>
              <a:t>Thesis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997925-59A9-9469-437B-D0D7949F7C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0682" y="4870824"/>
            <a:ext cx="10005951" cy="1458258"/>
          </a:xfrm>
        </p:spPr>
        <p:txBody>
          <a:bodyPr anchor="ctr">
            <a:normAutofit/>
          </a:bodyPr>
          <a:lstStyle/>
          <a:p>
            <a:pPr algn="l"/>
            <a:r>
              <a:rPr lang="en-US" dirty="0"/>
              <a:t>Baseline Covariate Adjustment for CLPM’s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873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3032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7587B70-DE16-250E-4CC1-8EA6A833D5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Problem / RQ</a:t>
            </a:r>
          </a:p>
        </p:txBody>
      </p:sp>
      <p:pic>
        <p:nvPicPr>
          <p:cNvPr id="7" name="Content Placeholder 6" descr="A diagram of a mathematical model&#10;&#10;AI-generated content may be incorrect.">
            <a:extLst>
              <a:ext uri="{FF2B5EF4-FFF2-40B4-BE49-F238E27FC236}">
                <a16:creationId xmlns:a16="http://schemas.microsoft.com/office/drawing/2014/main" id="{CCDB0F6E-2C11-A983-39BE-E321407014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8600" y="1136067"/>
            <a:ext cx="7188199" cy="4582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4873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F5D4C2-91F9-4CFC-CFEC-511832538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1D80AED-118A-3AE7-D7F3-3B0FB9BB9F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F59BADE-C7A1-355F-D0F6-FF987C159E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3032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568D18-AEAB-6186-36B6-A8DD76B61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Problem / RQ</a:t>
            </a:r>
            <a:br>
              <a:rPr lang="en-US" sz="2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2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Linear data.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7003ADE-3B50-7180-A6B9-487378B5D1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0499" y="562927"/>
            <a:ext cx="3531002" cy="573214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85C76994-E6D9-214C-FB86-1C48B66578C5}"/>
              </a:ext>
            </a:extLst>
          </p:cNvPr>
          <p:cNvSpPr/>
          <p:nvPr/>
        </p:nvSpPr>
        <p:spPr>
          <a:xfrm>
            <a:off x="5150734" y="1273215"/>
            <a:ext cx="381965" cy="16551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BFED606-2FD9-9A30-D306-88DA33A8B5A2}"/>
              </a:ext>
            </a:extLst>
          </p:cNvPr>
          <p:cNvSpPr/>
          <p:nvPr/>
        </p:nvSpPr>
        <p:spPr>
          <a:xfrm>
            <a:off x="5181599" y="3491322"/>
            <a:ext cx="381965" cy="16551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0214557-1D9A-1D17-D2B5-01555D27178D}"/>
              </a:ext>
            </a:extLst>
          </p:cNvPr>
          <p:cNvSpPr/>
          <p:nvPr/>
        </p:nvSpPr>
        <p:spPr>
          <a:xfrm>
            <a:off x="6807843" y="1273215"/>
            <a:ext cx="381965" cy="16551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969C704-472C-4C63-209D-851DF4A61A05}"/>
              </a:ext>
            </a:extLst>
          </p:cNvPr>
          <p:cNvSpPr/>
          <p:nvPr/>
        </p:nvSpPr>
        <p:spPr>
          <a:xfrm>
            <a:off x="6807843" y="3491322"/>
            <a:ext cx="381965" cy="16551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2745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494FB5-DF0E-6D87-5A06-217741D52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680D13E8-1703-C849-6106-71BED445E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A80F88F-2724-3F17-D7B2-04ED171EDB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3032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9B90C8-1F6D-484E-E8C7-A9FD24441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Problem / RQ.</a:t>
            </a:r>
            <a:br>
              <a:rPr lang="en-US" sz="2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2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Linear data.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4064028-F25F-4DFC-31C1-3E3C17F6E6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770" y="87841"/>
            <a:ext cx="4170418" cy="6770159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D3D50623-BD38-B85D-D79F-866E64EEFD4B}"/>
              </a:ext>
            </a:extLst>
          </p:cNvPr>
          <p:cNvSpPr/>
          <p:nvPr/>
        </p:nvSpPr>
        <p:spPr>
          <a:xfrm>
            <a:off x="5567422" y="787077"/>
            <a:ext cx="614225" cy="20718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6E8C9F1-5BF4-2E63-4DD8-8A7718401CF9}"/>
              </a:ext>
            </a:extLst>
          </p:cNvPr>
          <p:cNvSpPr/>
          <p:nvPr/>
        </p:nvSpPr>
        <p:spPr>
          <a:xfrm>
            <a:off x="5586713" y="3231265"/>
            <a:ext cx="614225" cy="20718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21D7E26-76C7-8DBA-BFBB-7FE7D0DCDC15}"/>
              </a:ext>
            </a:extLst>
          </p:cNvPr>
          <p:cNvSpPr/>
          <p:nvPr/>
        </p:nvSpPr>
        <p:spPr>
          <a:xfrm>
            <a:off x="7483940" y="787077"/>
            <a:ext cx="614225" cy="20718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449D119-6307-A4C7-5A8F-E5AF61D9BF64}"/>
              </a:ext>
            </a:extLst>
          </p:cNvPr>
          <p:cNvSpPr/>
          <p:nvPr/>
        </p:nvSpPr>
        <p:spPr>
          <a:xfrm>
            <a:off x="7503231" y="3231265"/>
            <a:ext cx="614225" cy="20718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6AD5EBC-DA81-5825-D589-8CF562BCED92}"/>
              </a:ext>
            </a:extLst>
          </p:cNvPr>
          <p:cNvSpPr/>
          <p:nvPr/>
        </p:nvSpPr>
        <p:spPr>
          <a:xfrm>
            <a:off x="6573022" y="787076"/>
            <a:ext cx="314957" cy="20718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BF1F686-6724-DE30-BAAE-1DEA1748F3BF}"/>
              </a:ext>
            </a:extLst>
          </p:cNvPr>
          <p:cNvSpPr/>
          <p:nvPr/>
        </p:nvSpPr>
        <p:spPr>
          <a:xfrm>
            <a:off x="8500752" y="787076"/>
            <a:ext cx="314957" cy="20718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5E05172-E044-C254-E4F9-63FC9ABB49F1}"/>
              </a:ext>
            </a:extLst>
          </p:cNvPr>
          <p:cNvSpPr/>
          <p:nvPr/>
        </p:nvSpPr>
        <p:spPr>
          <a:xfrm>
            <a:off x="6565171" y="3231264"/>
            <a:ext cx="314957" cy="20718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328D056-5394-ABFE-7D3A-20DEDA176E3F}"/>
              </a:ext>
            </a:extLst>
          </p:cNvPr>
          <p:cNvSpPr/>
          <p:nvPr/>
        </p:nvSpPr>
        <p:spPr>
          <a:xfrm>
            <a:off x="8500751" y="3231264"/>
            <a:ext cx="314957" cy="20718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55815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6EF35C-F0C0-1E9A-3BDA-A81F42716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7701928-3275-56E6-5F0E-C682893C9F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AEF9D4-216C-3035-594D-80BE1E08CB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383B6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CBE170-BE89-06EC-80D8-F8866FB3F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BCA SEM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A18D2CF-5741-17E2-9D54-58A4BE4064A8}"/>
              </a:ext>
            </a:extLst>
          </p:cNvPr>
          <p:cNvSpPr txBox="1"/>
          <p:nvPr/>
        </p:nvSpPr>
        <p:spPr>
          <a:xfrm>
            <a:off x="4132161" y="2627453"/>
            <a:ext cx="68753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1: Regress </a:t>
            </a:r>
            <a:r>
              <a:rPr lang="en-US" dirty="0" err="1"/>
              <a:t>X_t</a:t>
            </a:r>
            <a:r>
              <a:rPr lang="en-US" dirty="0"/>
              <a:t> (and </a:t>
            </a:r>
            <a:r>
              <a:rPr lang="en-US" dirty="0" err="1"/>
              <a:t>Y_t</a:t>
            </a:r>
            <a:r>
              <a:rPr lang="en-US" dirty="0"/>
              <a:t>) on C</a:t>
            </a:r>
          </a:p>
          <a:p>
            <a:r>
              <a:rPr lang="en-US" dirty="0"/>
              <a:t>Step 2: Save the residuals</a:t>
            </a:r>
          </a:p>
          <a:p>
            <a:r>
              <a:rPr lang="en-US" dirty="0"/>
              <a:t>Step 3: Do your standard CLPM</a:t>
            </a:r>
          </a:p>
          <a:p>
            <a:r>
              <a:rPr lang="en-US" dirty="0"/>
              <a:t>Step 4: Oops we should have bootstrapped to estimate our errors. </a:t>
            </a:r>
          </a:p>
        </p:txBody>
      </p:sp>
    </p:spTree>
    <p:extLst>
      <p:ext uri="{BB962C8B-B14F-4D97-AF65-F5344CB8AC3E}">
        <p14:creationId xmlns:p14="http://schemas.microsoft.com/office/powerpoint/2010/main" val="32201568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C7C219-9DB4-DAD3-B98D-ED0FBBBC2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383B6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A6435D-C717-C4FD-EF2C-FA1D0C1D0C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Workflow</a:t>
            </a:r>
          </a:p>
        </p:txBody>
      </p:sp>
      <p:pic>
        <p:nvPicPr>
          <p:cNvPr id="7" name="Content Placeholder 6" descr="A diagram of a flowchart&#10;&#10;AI-generated content may be incorrect.">
            <a:extLst>
              <a:ext uri="{FF2B5EF4-FFF2-40B4-BE49-F238E27FC236}">
                <a16:creationId xmlns:a16="http://schemas.microsoft.com/office/drawing/2014/main" id="{E69405CA-142F-F369-F592-CB4130B11C0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2514" y="1371530"/>
            <a:ext cx="6858232" cy="4114939"/>
          </a:xfrm>
        </p:spPr>
      </p:pic>
    </p:spTree>
    <p:extLst>
      <p:ext uri="{BB962C8B-B14F-4D97-AF65-F5344CB8AC3E}">
        <p14:creationId xmlns:p14="http://schemas.microsoft.com/office/powerpoint/2010/main" val="14944312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04B62-F15A-629A-70A9-C02C3E606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B91CE-DB76-2B81-303E-D8D438819E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Problem / RQ</a:t>
            </a:r>
          </a:p>
        </p:txBody>
      </p:sp>
      <p:pic>
        <p:nvPicPr>
          <p:cNvPr id="7" name="Content Placeholder 6" descr="A diagram of a mathematical model&#10;&#10;AI-generated content may be incorrect.">
            <a:extLst>
              <a:ext uri="{FF2B5EF4-FFF2-40B4-BE49-F238E27FC236}">
                <a16:creationId xmlns:a16="http://schemas.microsoft.com/office/drawing/2014/main" id="{0A7985A9-B041-9119-612F-B29FCEFAD7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8600" y="1136067"/>
            <a:ext cx="7188199" cy="4582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2469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DFC7C8-81C4-200B-0325-8E6DB7EDB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A601482-F715-F503-9892-06F3729AA9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D08581-D996-EEC7-24CB-E8E77A8F11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383B6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4CAAAE-0983-B7A8-16C4-F6AAC74D3E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dirty="0">
                <a:solidFill>
                  <a:srgbClr val="FFFFFF"/>
                </a:solidFill>
              </a:rPr>
              <a:t>Linear data</a:t>
            </a:r>
            <a:endParaRPr lang="en-US" sz="26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B700BA-45CD-D42E-0B03-7D27AFFC4F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9458" y="1524000"/>
            <a:ext cx="382905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89399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56657B-8B0F-1EE3-B15C-D7329ABA9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84F9CD8-1EFC-5C4D-EE25-9996009B11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C171579-381C-D84C-7F3B-605B69BA63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383B6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C9BD3-0483-4871-6E67-15938E24BF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Data:</a:t>
            </a:r>
            <a:br>
              <a:rPr lang="en-US" sz="2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2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Cubic &amp; Cutoff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792CFC-3E4A-49FA-C531-B7AE9F2F90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8619" y="1943783"/>
            <a:ext cx="4395658" cy="328034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4B97073-C468-4E43-B71D-3E1F4730FE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3622" y="1943783"/>
            <a:ext cx="4395656" cy="3280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7740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C10927-0BFA-DA15-D890-7D384E504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D8EA10F-5CA6-DB6D-8844-14E04B4515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679FA8D-FD45-025C-9D7B-21E4794263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383B6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976478-D98E-B1E9-47CE-A42B3D5030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Data:</a:t>
            </a:r>
            <a:br>
              <a:rPr lang="en-US" sz="2600" dirty="0">
                <a:solidFill>
                  <a:srgbClr val="FFFFFF"/>
                </a:solidFill>
              </a:rPr>
            </a:br>
            <a:r>
              <a:rPr lang="en-US" sz="2600" dirty="0">
                <a:solidFill>
                  <a:srgbClr val="FFFFFF"/>
                </a:solidFill>
              </a:rPr>
              <a:t>Exponential</a:t>
            </a:r>
            <a:br>
              <a:rPr lang="en-US" sz="2600" dirty="0">
                <a:solidFill>
                  <a:srgbClr val="FFFFFF"/>
                </a:solidFill>
              </a:rPr>
            </a:br>
            <a:r>
              <a:rPr lang="en-US" sz="2600" dirty="0">
                <a:solidFill>
                  <a:srgbClr val="FFFFFF"/>
                </a:solidFill>
              </a:rPr>
              <a:t>&amp;</a:t>
            </a:r>
            <a:br>
              <a:rPr lang="en-US" sz="2600" dirty="0">
                <a:solidFill>
                  <a:srgbClr val="FFFFFF"/>
                </a:solidFill>
              </a:rPr>
            </a:br>
            <a:r>
              <a:rPr lang="en-US" sz="2600" dirty="0">
                <a:solidFill>
                  <a:srgbClr val="FFFFFF"/>
                </a:solidFill>
              </a:rPr>
              <a:t>Sine</a:t>
            </a:r>
            <a:endParaRPr lang="en-US" sz="26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D8A368F-3364-3EFA-87CE-8D41F0C276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0018" y="1927405"/>
            <a:ext cx="4024273" cy="300318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2AAD7A1-83F4-3CE1-BECA-935458A66A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0934" y="1960430"/>
            <a:ext cx="4077629" cy="3043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90810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C8CB9A-2305-C78F-E863-C9D337082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DCBAFF9-7D2A-64BA-6D53-6100E3D159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50C80EA-5D70-9BF0-E648-9F2D3A1BB2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383B6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BAABF7-8BCE-35C3-D5A5-1FAAF1DE2F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Data:</a:t>
            </a:r>
            <a:br>
              <a:rPr lang="en-US" sz="2600" dirty="0">
                <a:solidFill>
                  <a:srgbClr val="FFFFFF"/>
                </a:solidFill>
              </a:rPr>
            </a:br>
            <a:r>
              <a:rPr lang="en-US" sz="2600" dirty="0">
                <a:solidFill>
                  <a:srgbClr val="FFFFFF"/>
                </a:solidFill>
              </a:rPr>
              <a:t>tanh</a:t>
            </a:r>
            <a:endParaRPr lang="en-US" sz="26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1EE464-4800-3E77-F6C4-1AA3B2827D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5758" y="1703845"/>
            <a:ext cx="4623414" cy="3450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85465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70D5D5-9C56-230B-329D-DFD5F5568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7AB6FD3-FA5D-38FB-B381-28A41D080A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12682AF-82BF-2486-D716-B7A49E86ED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383B6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3070DB-C71B-F001-EF5B-8357FEC21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dirty="0">
                <a:solidFill>
                  <a:srgbClr val="FFFFFF"/>
                </a:solidFill>
              </a:rPr>
              <a:t>Models</a:t>
            </a:r>
            <a:endParaRPr lang="en-US" sz="26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1752A8-4050-B385-60BB-186B159A3A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1951" y="1189690"/>
            <a:ext cx="7239413" cy="4478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35714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F9FBE0-6735-A60A-A826-0EAA30E9C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5B72596-E8B9-B086-4FE0-7C4DAD044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7AD133A-3668-9502-8170-AEAEE5A720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383B6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71F44D-EBBD-C5E8-CC02-EFFCFEE15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dirty="0">
                <a:solidFill>
                  <a:srgbClr val="FFFFFF"/>
                </a:solidFill>
              </a:rPr>
              <a:t>Models:</a:t>
            </a:r>
            <a:br>
              <a:rPr lang="en-US" sz="2600" dirty="0">
                <a:solidFill>
                  <a:srgbClr val="FFFFFF"/>
                </a:solidFill>
              </a:rPr>
            </a:br>
            <a:r>
              <a:rPr lang="en-US" sz="2600" dirty="0">
                <a:solidFill>
                  <a:srgbClr val="FFFFFF"/>
                </a:solidFill>
              </a:rPr>
              <a:t>Linear  confounding</a:t>
            </a:r>
            <a:endParaRPr lang="en-US" sz="26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E837CF6-3183-73FD-E18C-A52B6192C4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5827" y="746808"/>
            <a:ext cx="3531002" cy="5732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74498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C20FFD-E108-940B-B46A-6D9F7D1D3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2A5A304-167D-30BF-C9B4-902215BABD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F5331CC-6BA0-458B-EE56-D155F08C6E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383B6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30210D-1C74-7A37-8963-0A3993A2F6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dirty="0">
                <a:solidFill>
                  <a:srgbClr val="FFFFFF"/>
                </a:solidFill>
              </a:rPr>
              <a:t>Models:</a:t>
            </a:r>
            <a:br>
              <a:rPr lang="en-US" sz="2600" dirty="0">
                <a:solidFill>
                  <a:srgbClr val="FFFFFF"/>
                </a:solidFill>
              </a:rPr>
            </a:br>
            <a:r>
              <a:rPr lang="en-US" sz="2600" dirty="0">
                <a:solidFill>
                  <a:srgbClr val="FFFFFF"/>
                </a:solidFill>
              </a:rPr>
              <a:t>non-linear</a:t>
            </a:r>
            <a:br>
              <a:rPr lang="en-US" sz="2600" dirty="0">
                <a:solidFill>
                  <a:srgbClr val="FFFFFF"/>
                </a:solidFill>
              </a:rPr>
            </a:br>
            <a:r>
              <a:rPr lang="en-US" sz="2600" dirty="0">
                <a:solidFill>
                  <a:srgbClr val="FFFFFF"/>
                </a:solidFill>
              </a:rPr>
              <a:t>confounding</a:t>
            </a:r>
            <a:endParaRPr lang="en-US" sz="26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25623B0-9BFF-841D-3958-0FB2E3B31D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7928" y="184846"/>
            <a:ext cx="3996798" cy="6488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00506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C7E385-3056-2E89-E5BF-5C042D37C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A45AC11-8FF1-5336-323F-EC420AF109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Workflow</a:t>
            </a:r>
          </a:p>
        </p:txBody>
      </p:sp>
      <p:pic>
        <p:nvPicPr>
          <p:cNvPr id="7" name="Content Placeholder 6" descr="A diagram of a flowchart&#10;&#10;AI-generated content may be incorrect.">
            <a:extLst>
              <a:ext uri="{FF2B5EF4-FFF2-40B4-BE49-F238E27FC236}">
                <a16:creationId xmlns:a16="http://schemas.microsoft.com/office/drawing/2014/main" id="{7B3A56F6-2549-2453-215F-56C635A898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8600" y="1270846"/>
            <a:ext cx="7188199" cy="4312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28262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FA825C-C91A-AF2A-82EC-03E29967C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842E69-E79F-6161-5DF0-227501ADFF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5631" y="1441938"/>
            <a:ext cx="7080738" cy="3974124"/>
          </a:xfrm>
          <a:prstGeom prst="ellipse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400" dirty="0">
                <a:solidFill>
                  <a:schemeClr val="bg1">
                    <a:lumMod val="95000"/>
                    <a:lumOff val="5000"/>
                  </a:schemeClr>
                </a:solidFill>
              </a:rPr>
              <a:t>Dit was </a:t>
            </a:r>
            <a:r>
              <a:rPr lang="en-US" sz="5400" dirty="0" err="1">
                <a:solidFill>
                  <a:schemeClr val="bg1">
                    <a:lumMod val="95000"/>
                    <a:lumOff val="5000"/>
                  </a:schemeClr>
                </a:solidFill>
              </a:rPr>
              <a:t>mijn</a:t>
            </a:r>
            <a:r>
              <a:rPr lang="en-US" sz="5400" dirty="0">
                <a:solidFill>
                  <a:schemeClr val="bg1">
                    <a:lumMod val="95000"/>
                    <a:lumOff val="5000"/>
                  </a:schemeClr>
                </a:solidFill>
              </a:rPr>
              <a:t> </a:t>
            </a:r>
            <a:r>
              <a:rPr lang="en-US" sz="5400" dirty="0" err="1">
                <a:solidFill>
                  <a:schemeClr val="bg1">
                    <a:lumMod val="95000"/>
                    <a:lumOff val="5000"/>
                  </a:schemeClr>
                </a:solidFill>
              </a:rPr>
              <a:t>spreekbeurt</a:t>
            </a:r>
            <a:r>
              <a:rPr lang="en-US" sz="5400" dirty="0">
                <a:solidFill>
                  <a:schemeClr val="bg1">
                    <a:lumMod val="95000"/>
                    <a:lumOff val="5000"/>
                  </a:schemeClr>
                </a:solidFill>
              </a:rPr>
              <a:t>. </a:t>
            </a:r>
            <a:r>
              <a:rPr lang="en-US" sz="5400" dirty="0" err="1">
                <a:solidFill>
                  <a:schemeClr val="bg1">
                    <a:lumMod val="95000"/>
                    <a:lumOff val="5000"/>
                  </a:schemeClr>
                </a:solidFill>
              </a:rPr>
              <a:t>Zijn</a:t>
            </a:r>
            <a:r>
              <a:rPr lang="en-US" sz="5400" dirty="0">
                <a:solidFill>
                  <a:schemeClr val="bg1">
                    <a:lumMod val="95000"/>
                    <a:lumOff val="5000"/>
                  </a:schemeClr>
                </a:solidFill>
              </a:rPr>
              <a:t> er </a:t>
            </a:r>
            <a:r>
              <a:rPr lang="en-US" sz="5400" dirty="0" err="1">
                <a:solidFill>
                  <a:schemeClr val="bg1">
                    <a:lumMod val="95000"/>
                    <a:lumOff val="5000"/>
                  </a:schemeClr>
                </a:solidFill>
              </a:rPr>
              <a:t>nog</a:t>
            </a:r>
            <a:r>
              <a:rPr lang="en-US" sz="5400" dirty="0">
                <a:solidFill>
                  <a:schemeClr val="bg1">
                    <a:lumMod val="95000"/>
                    <a:lumOff val="5000"/>
                  </a:schemeClr>
                </a:solidFill>
              </a:rPr>
              <a:t> </a:t>
            </a:r>
            <a:r>
              <a:rPr lang="en-US" sz="5400" dirty="0" err="1">
                <a:solidFill>
                  <a:schemeClr val="bg1">
                    <a:lumMod val="95000"/>
                    <a:lumOff val="5000"/>
                  </a:schemeClr>
                </a:solidFill>
              </a:rPr>
              <a:t>vragen</a:t>
            </a:r>
            <a:r>
              <a:rPr lang="en-US" sz="5400" dirty="0">
                <a:solidFill>
                  <a:schemeClr val="bg1">
                    <a:lumMod val="95000"/>
                    <a:lumOff val="5000"/>
                  </a:schemeClr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0959769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333</TotalTime>
  <Words>474</Words>
  <Application>Microsoft Office PowerPoint</Application>
  <PresentationFormat>Widescreen</PresentationFormat>
  <Paragraphs>81</Paragraphs>
  <Slides>16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Aptos Display</vt:lpstr>
      <vt:lpstr>Arial</vt:lpstr>
      <vt:lpstr>Office Theme</vt:lpstr>
      <vt:lpstr>Thesis</vt:lpstr>
      <vt:lpstr>Problem / RQ</vt:lpstr>
      <vt:lpstr>Problem / RQ Linear data.</vt:lpstr>
      <vt:lpstr>Problem / RQ. Linear data.</vt:lpstr>
      <vt:lpstr>BCA SEM</vt:lpstr>
      <vt:lpstr>Workflow</vt:lpstr>
      <vt:lpstr>Problem / RQ</vt:lpstr>
      <vt:lpstr>Linear data</vt:lpstr>
      <vt:lpstr>Data: Cubic &amp; Cutoff</vt:lpstr>
      <vt:lpstr>Data: Exponential &amp; Sine</vt:lpstr>
      <vt:lpstr>Data: tanh</vt:lpstr>
      <vt:lpstr>Models</vt:lpstr>
      <vt:lpstr>Models: Linear  confounding</vt:lpstr>
      <vt:lpstr>Models: non-linear confounding</vt:lpstr>
      <vt:lpstr>Workflow</vt:lpstr>
      <vt:lpstr>Dit was mijn spreekbeurt. Zijn er nog vragen?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Holten, E.D. van (Mano)</dc:creator>
  <cp:lastModifiedBy>Holten, E.D. van (Mano)</cp:lastModifiedBy>
  <cp:revision>4</cp:revision>
  <dcterms:created xsi:type="dcterms:W3CDTF">2025-11-18T21:51:39Z</dcterms:created>
  <dcterms:modified xsi:type="dcterms:W3CDTF">2025-11-25T12:56:21Z</dcterms:modified>
</cp:coreProperties>
</file>