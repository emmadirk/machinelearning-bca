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9" r:id="rId4"/>
    <p:sldId id="279" r:id="rId5"/>
    <p:sldId id="270" r:id="rId6"/>
    <p:sldId id="272" r:id="rId7"/>
    <p:sldId id="280" r:id="rId8"/>
    <p:sldId id="274" r:id="rId9"/>
    <p:sldId id="283" r:id="rId10"/>
    <p:sldId id="281" r:id="rId11"/>
    <p:sldId id="277" r:id="rId12"/>
    <p:sldId id="276" r:id="rId13"/>
    <p:sldId id="282" r:id="rId14"/>
    <p:sldId id="27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7716A-BF1F-909F-B5D0-BD5954299B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0A3FDD-BBA1-2A59-63D0-0522A02B13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6DB9C-6BDF-0DDB-22AD-B474E3B05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2447-2EA4-4E44-AB8D-C4FC61A7E730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36324-1E5E-8639-8072-F7C59BB34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B3704-1847-5CA0-F165-49AB4B06D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204C-6A42-4F02-8097-A3C4D7959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192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56D3D-01B8-89C0-47FC-C5DBA270E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15132-1512-F377-3E95-A6C8ADA35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8F6FC-C9A6-E12D-1FDA-A8AE74A70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2447-2EA4-4E44-AB8D-C4FC61A7E730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EB2C4-5205-E581-1980-868A52801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2F439-3C1C-7C54-FA48-C09E72EE1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204C-6A42-4F02-8097-A3C4D7959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0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3E833-7692-3648-1744-EF0F46682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D6EE92-3357-608D-7D76-71AA21AA7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349A1-7072-6F3D-F029-4174FAE41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2447-2EA4-4E44-AB8D-C4FC61A7E730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9FD33-5BE3-9BC6-522D-CB4E9A38D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3B2CF-4052-4C41-43D4-0E1D7FA88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204C-6A42-4F02-8097-A3C4D7959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290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50A2E-53F3-82C6-ADF7-A2895A16D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A3C67-7FAA-E8BD-17D6-E420FE1D19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788091-CB00-683B-CB78-B554D42C4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003EC-F905-0FC3-62E4-C327255F3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2447-2EA4-4E44-AB8D-C4FC61A7E730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E0DA71-1DB4-04AA-A9FC-9EF43868C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58068C-19DB-1528-80E7-A42DDB54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204C-6A42-4F02-8097-A3C4D7959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633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7B445-1907-AF66-44BA-955280ACD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3F0CB-0F2F-14B0-0E25-DCF12D730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EBFFC5-B8FF-6D3D-F7ED-ED6E5BE9C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1E8076-4328-92B2-14C5-89591AB342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B84470-3457-E4A4-F55B-441D7EE35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C5FFBA-9908-CECC-A44D-D53A3DB67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2447-2EA4-4E44-AB8D-C4FC61A7E730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8B2CC6-7CA4-C666-0655-B14804E48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1F3CA9-AE85-B6CF-D717-FF62FA666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204C-6A42-4F02-8097-A3C4D7959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31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6DAF6-D794-D168-1641-474C8C4D7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FE9B03-49A7-DF8A-9CE8-F050C3AEB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2447-2EA4-4E44-AB8D-C4FC61A7E730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2C531-AC4D-A577-862F-613EEFBB8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178D93-193F-009C-5371-20C1172E3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204C-6A42-4F02-8097-A3C4D7959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206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8E4081-FDD0-0FFF-D274-4AA1CDE21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2447-2EA4-4E44-AB8D-C4FC61A7E730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70BEB0-A7F8-8308-4A0C-8F2E3DDC8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C4D11-AB3D-9316-62FA-E12762567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204C-6A42-4F02-8097-A3C4D7959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207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98A9D-65AC-EA33-FEC9-C231B3152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E21FB-E516-F186-169C-B22E20A48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3559AB-F192-2DFD-E67B-C626D40CD4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6F22F9-7FC5-8A61-D054-7CB19AFC6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2447-2EA4-4E44-AB8D-C4FC61A7E730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F64EAA-85D4-C09F-5A0C-138DF731D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96136-24DB-21A8-B480-E80333D0F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204C-6A42-4F02-8097-A3C4D7959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564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6A74C-2A73-479A-FD25-EC24BC6E5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4764E7-F0EC-6171-8320-A8FEAD3EE4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741F89-F96D-93BD-14AF-6F37A1953D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D3FA2-893A-98A2-3DC2-164AB69C3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2447-2EA4-4E44-AB8D-C4FC61A7E730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9B053B-D7F8-E958-E6BF-4AF1D706B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FDBAD4-F692-B6C3-7476-F3458A1C6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204C-6A42-4F02-8097-A3C4D7959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439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ABFE2-B8A4-F4E4-E9E2-0A767B7AA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0EC751-A87E-6FD5-EDD1-5F1195D329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91450-1DE1-D678-94AF-A48ED83D3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2447-2EA4-4E44-AB8D-C4FC61A7E730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7BD58-B5CF-273D-7ABC-291E2D850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A1125-364A-A3D5-CE29-757CB280E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204C-6A42-4F02-8097-A3C4D7959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438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B51D71-4D8D-0F67-535A-0F5A278A20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6C9DB6-EE7D-742A-66C8-63FDBE7E78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CB181-B6A2-3DB7-3CAB-6A9B5FA17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2447-2EA4-4E44-AB8D-C4FC61A7E730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F88F9-D15E-DBA9-40D3-1EA1F5473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9FBF7-5B9D-B735-4CB4-FCEBB0A3D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204C-6A42-4F02-8097-A3C4D7959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066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52819F-AB42-A585-2D31-7099F1236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94E0A-E97D-78D6-3F63-3FC228FA2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D0B31-5B69-5C3C-988F-55E73A05D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8C2447-2EA4-4E44-AB8D-C4FC61A7E730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80D29-7D90-613D-CB6C-D151EFC99B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F4DC6-00D1-1E67-4F1F-F358A73C65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DE204C-6A42-4F02-8097-A3C4D7959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11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03B58-8DAC-76BA-E20A-04A52F48C6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00981"/>
            <a:ext cx="9144000" cy="23876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/>
              <a:t>B</a:t>
            </a:r>
            <a:r>
              <a:rPr lang="en-US" dirty="0"/>
              <a:t>aseline</a:t>
            </a:r>
            <a:br>
              <a:rPr lang="en-US" dirty="0"/>
            </a:br>
            <a:r>
              <a:rPr lang="en-US" b="1" dirty="0"/>
              <a:t>C</a:t>
            </a:r>
            <a:r>
              <a:rPr lang="en-US" dirty="0"/>
              <a:t>ovariate</a:t>
            </a:r>
            <a:br>
              <a:rPr lang="en-US" dirty="0"/>
            </a:br>
            <a:r>
              <a:rPr lang="en-US" b="1" dirty="0"/>
              <a:t>A</a:t>
            </a:r>
            <a:r>
              <a:rPr lang="en-US" dirty="0"/>
              <a:t>djustment</a:t>
            </a:r>
            <a:br>
              <a:rPr lang="en-US" dirty="0"/>
            </a:br>
            <a:r>
              <a:rPr lang="en-US" sz="2800" dirty="0"/>
              <a:t>For longitudinal research in the social sciences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634284-67D4-C83C-03EC-EAF69F5C4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34657"/>
            <a:ext cx="9144000" cy="1655762"/>
          </a:xfrm>
        </p:spPr>
        <p:txBody>
          <a:bodyPr/>
          <a:lstStyle/>
          <a:p>
            <a:pPr algn="l"/>
            <a:r>
              <a:rPr lang="en-US" dirty="0"/>
              <a:t>Mano van Holten</a:t>
            </a:r>
          </a:p>
        </p:txBody>
      </p:sp>
    </p:spTree>
    <p:extLst>
      <p:ext uri="{BB962C8B-B14F-4D97-AF65-F5344CB8AC3E}">
        <p14:creationId xmlns:p14="http://schemas.microsoft.com/office/powerpoint/2010/main" val="3018449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3430D-AA7C-C8EA-B9A2-2518C4B21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CAF776-BAEE-6280-CDE6-931E42469C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0"/>
            <a:ext cx="7873657" cy="7353701"/>
          </a:xfrm>
        </p:spPr>
      </p:pic>
    </p:spTree>
    <p:extLst>
      <p:ext uri="{BB962C8B-B14F-4D97-AF65-F5344CB8AC3E}">
        <p14:creationId xmlns:p14="http://schemas.microsoft.com/office/powerpoint/2010/main" val="4126964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E8C4E4-8C2D-A8A0-1D66-17DCC1726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29056A-F4A1-8C97-B6E5-12CA8D740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A76E22-A707-8728-53AE-54B660C1C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4961D0-1098-8656-4027-4B3C50D63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Panel data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 descr="A diagram of a diagram&#10;&#10;AI-generated content may be incorrect.">
            <a:extLst>
              <a:ext uri="{FF2B5EF4-FFF2-40B4-BE49-F238E27FC236}">
                <a16:creationId xmlns:a16="http://schemas.microsoft.com/office/drawing/2014/main" id="{161F2212-FAD7-4EE4-7657-CA2AF1FCB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3582" y="1888957"/>
            <a:ext cx="6703717" cy="3080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216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56CD62-64EB-F090-3C1C-EE306B49E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12CFD2A-7EE9-F331-08CD-A730B01CD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06C657-D188-33CE-5A79-6AD36F2F7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3C1784-033E-A690-53C5-9C9757781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Problem 1:</a:t>
            </a: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Confounders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607BB6-2C8F-0A1A-28AB-EC394B0D51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281" b="97690" l="102" r="96633">
                        <a14:foregroundMark x1="6837" y1="24587" x2="5204" y2="44884"/>
                        <a14:foregroundMark x1="5204" y1="44884" x2="19490" y2="47525"/>
                        <a14:foregroundMark x1="19490" y1="47525" x2="27143" y2="65512"/>
                        <a14:foregroundMark x1="27143" y1="65512" x2="38163" y2="68812"/>
                        <a14:foregroundMark x1="38163" y1="68812" x2="47245" y2="51320"/>
                        <a14:foregroundMark x1="47245" y1="51320" x2="62041" y2="43234"/>
                        <a14:foregroundMark x1="62041" y1="43234" x2="73673" y2="43894"/>
                        <a14:foregroundMark x1="73673" y1="43894" x2="84694" y2="53300"/>
                        <a14:foregroundMark x1="84694" y1="53300" x2="94184" y2="39109"/>
                        <a14:foregroundMark x1="94184" y1="39109" x2="95816" y2="59076"/>
                        <a14:foregroundMark x1="38878" y1="26238" x2="30204" y2="24587"/>
                        <a14:foregroundMark x1="30204" y1="24587" x2="47347" y2="18977"/>
                        <a14:foregroundMark x1="51939" y1="16997" x2="28878" y2="25083"/>
                        <a14:foregroundMark x1="28878" y1="25083" x2="34898" y2="36469"/>
                        <a14:foregroundMark x1="34898" y1="36469" x2="29286" y2="50990"/>
                        <a14:foregroundMark x1="29286" y1="50990" x2="42653" y2="56106"/>
                        <a14:foregroundMark x1="42653" y1="56106" x2="23163" y2="62871"/>
                        <a14:foregroundMark x1="23163" y1="62871" x2="14490" y2="82013"/>
                        <a14:foregroundMark x1="14490" y1="82013" x2="21633" y2="90594"/>
                        <a14:foregroundMark x1="21633" y1="90594" x2="16735" y2="71617"/>
                        <a14:foregroundMark x1="16735" y1="71617" x2="14694" y2="27393"/>
                        <a14:foregroundMark x1="14694" y1="27393" x2="39286" y2="19802"/>
                        <a14:foregroundMark x1="39286" y1="19802" x2="32143" y2="15512"/>
                        <a14:foregroundMark x1="32143" y1="15512" x2="38163" y2="12211"/>
                        <a14:foregroundMark x1="38163" y1="12211" x2="53673" y2="12376"/>
                        <a14:foregroundMark x1="53673" y1="12376" x2="47755" y2="8416"/>
                        <a14:foregroundMark x1="47755" y1="8416" x2="32347" y2="11386"/>
                        <a14:foregroundMark x1="32347" y1="11386" x2="47653" y2="13531"/>
                        <a14:foregroundMark x1="47653" y1="13531" x2="20918" y2="17822"/>
                        <a14:foregroundMark x1="20918" y1="17822" x2="42449" y2="28713"/>
                        <a14:foregroundMark x1="42449" y1="28713" x2="53776" y2="42079"/>
                        <a14:foregroundMark x1="53776" y1="42079" x2="50204" y2="57096"/>
                        <a14:foregroundMark x1="50204" y1="57096" x2="42755" y2="64521"/>
                        <a14:foregroundMark x1="42755" y1="64521" x2="52653" y2="76238"/>
                        <a14:foregroundMark x1="52653" y1="76238" x2="63776" y2="79043"/>
                        <a14:foregroundMark x1="63776" y1="79043" x2="77347" y2="67162"/>
                        <a14:foregroundMark x1="77347" y1="67162" x2="68163" y2="56931"/>
                        <a14:foregroundMark x1="68163" y1="56931" x2="71429" y2="53465"/>
                        <a14:foregroundMark x1="7245" y1="50990" x2="12449" y2="41584"/>
                        <a14:foregroundMark x1="12449" y1="41584" x2="11633" y2="43564"/>
                        <a14:foregroundMark x1="9286" y1="37459" x2="2653" y2="43729"/>
                        <a14:foregroundMark x1="2653" y1="43729" x2="7347" y2="80363"/>
                        <a14:foregroundMark x1="7347" y1="80363" x2="12449" y2="86964"/>
                        <a14:foregroundMark x1="12449" y1="86964" x2="18571" y2="81518"/>
                        <a14:foregroundMark x1="18571" y1="81518" x2="7347" y2="81188"/>
                        <a14:foregroundMark x1="7347" y1="81188" x2="11837" y2="91584"/>
                        <a14:foregroundMark x1="11837" y1="91584" x2="21939" y2="97030"/>
                        <a14:foregroundMark x1="21939" y1="97030" x2="14082" y2="93399"/>
                        <a14:foregroundMark x1="14082" y1="93399" x2="10816" y2="83168"/>
                        <a14:foregroundMark x1="10816" y1="83168" x2="612" y2="83498"/>
                        <a14:foregroundMark x1="22041" y1="97195" x2="24592" y2="86304"/>
                        <a14:foregroundMark x1="24592" y1="86304" x2="35408" y2="90264"/>
                        <a14:foregroundMark x1="35408" y1="90264" x2="50816" y2="84983"/>
                        <a14:foregroundMark x1="50816" y1="84983" x2="42449" y2="78548"/>
                        <a14:foregroundMark x1="42449" y1="78548" x2="50510" y2="77888"/>
                        <a14:foregroundMark x1="74388" y1="86964" x2="62959" y2="82673"/>
                        <a14:foregroundMark x1="62959" y1="82673" x2="77551" y2="74092"/>
                        <a14:foregroundMark x1="77551" y1="74092" x2="76020" y2="59571"/>
                        <a14:foregroundMark x1="76020" y1="59571" x2="59388" y2="57096"/>
                        <a14:foregroundMark x1="59388" y1="57096" x2="63469" y2="57921"/>
                        <a14:foregroundMark x1="81939" y1="50660" x2="81429" y2="62211"/>
                        <a14:foregroundMark x1="81429" y1="62211" x2="87245" y2="67987"/>
                        <a14:foregroundMark x1="87245" y1="67987" x2="79388" y2="58581"/>
                        <a14:foregroundMark x1="79388" y1="58581" x2="86939" y2="56931"/>
                        <a14:foregroundMark x1="86939" y1="56931" x2="87143" y2="55116"/>
                        <a14:foregroundMark x1="95918" y1="52145" x2="96633" y2="58416"/>
                        <a14:foregroundMark x1="95510" y1="25908" x2="67143" y2="20627"/>
                        <a14:foregroundMark x1="67143" y1="20627" x2="41633" y2="7426"/>
                        <a14:foregroundMark x1="41633" y1="7426" x2="10714" y2="17657"/>
                        <a14:foregroundMark x1="10714" y1="17657" x2="6735" y2="25908"/>
                        <a14:foregroundMark x1="6735" y1="25908" x2="7347" y2="25413"/>
                        <a14:foregroundMark x1="23673" y1="10561" x2="37857" y2="8911"/>
                        <a14:foregroundMark x1="37857" y1="8911" x2="30306" y2="5611"/>
                        <a14:foregroundMark x1="30306" y1="5611" x2="40102" y2="7591"/>
                        <a14:foregroundMark x1="40102" y1="7591" x2="60612" y2="5281"/>
                        <a14:foregroundMark x1="60612" y1="5281" x2="66735" y2="12211"/>
                        <a14:foregroundMark x1="66735" y1="12211" x2="78061" y2="12376"/>
                        <a14:foregroundMark x1="78061" y1="12376" x2="94592" y2="24917"/>
                        <a14:foregroundMark x1="94592" y1="24917" x2="95816" y2="26403"/>
                        <a14:foregroundMark x1="30816" y1="85974" x2="15000" y2="86799"/>
                        <a14:foregroundMark x1="15000" y1="86799" x2="10204" y2="96370"/>
                        <a14:foregroundMark x1="10204" y1="96370" x2="8367" y2="97690"/>
                        <a14:foregroundMark x1="40510" y1="25578" x2="46837" y2="27558"/>
                        <a14:foregroundMark x1="46837" y1="27558" x2="50408" y2="26898"/>
                        <a14:backgroundMark x1="12143" y1="2475" x2="10918" y2="1320"/>
                        <a14:backgroundMark x1="13469" y1="3135" x2="10714" y2="1650"/>
                        <a14:backgroundMark x1="11429" y1="2970" x2="11429" y2="1815"/>
                        <a14:backgroundMark x1="12551" y1="4785" x2="11122" y2="4125"/>
                        <a14:backgroundMark x1="11531" y1="4620" x2="12959" y2="4455"/>
                        <a14:backgroundMark x1="11020" y1="3135" x2="10714" y2="511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72141" y="1514674"/>
            <a:ext cx="7640152" cy="472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418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93C327-9010-80CB-09F1-63A59DCA6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345F7FA-42AF-6F5B-5D03-311334E61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D4108D-FEF7-7E91-A230-D4E6759973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AD87FE-A1EE-4B0D-BA7C-5A8F5C94D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Solution 1: </a:t>
            </a: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RI-CLPM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DB885-D665-E7DF-CAD5-8AD9A5A69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2606" y="1511918"/>
            <a:ext cx="7859222" cy="43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060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88FE59-4627-27A3-932F-F98F7C3F1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378CE4E-4B97-F582-1E42-DE75C3FF0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3E8244-5221-0A17-2041-5CC1B15F60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B44FDE-B339-CDFD-8F93-20607BB3F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Problem 2:</a:t>
            </a:r>
            <a:b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Variation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A59DA8-C43A-94B0-B1C4-83E90D834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174" y="1467155"/>
            <a:ext cx="7411484" cy="496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034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F8EE52-9344-9504-7987-55257B4EE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520F46B-7BC8-49BF-BED2-37F885595C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47CE44-350F-5E57-858B-E2FFA173D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62934D-4632-4BA2-A2F1-F51709902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Problem 2:</a:t>
            </a:r>
            <a:b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Variation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91DFED-94CD-7870-3EA8-ECF7146CE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4769" y="76786"/>
            <a:ext cx="7440063" cy="641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88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70B514-8ADF-FE83-B0E9-C2E80B33C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FFEC641-6CE1-9E59-D10B-91F99BAE9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9470E2-85AC-6756-A51A-341A8BB34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5EDA13-44ED-62EE-3BDD-B26B2DC40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Problem 2:</a:t>
            </a: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Variation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10E2F3-0171-531F-0B2B-31FB08DF3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579" y="949666"/>
            <a:ext cx="8059275" cy="540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415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AA39DE-6E1C-CF2B-7FA2-BA8E7EBBA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6214E67-BE29-D8DD-F1B3-694FF27B36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9BE40B-D9FC-B573-819B-6720056BF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B35FB5-4555-D466-D4AE-3D2DD5FDA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Solution 2:</a:t>
            </a: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linear BCA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BEB78B-F755-465F-72A9-5512F7E85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27" b="98273" l="4499" r="96787">
                        <a14:foregroundMark x1="32648" y1="3455" x2="51799" y2="6526"/>
                        <a14:foregroundMark x1="51799" y1="6526" x2="32391" y2="27063"/>
                        <a14:foregroundMark x1="32391" y1="27063" x2="51542" y2="38580"/>
                        <a14:foregroundMark x1="51542" y1="38580" x2="60283" y2="60461"/>
                        <a14:foregroundMark x1="60283" y1="60461" x2="47686" y2="66987"/>
                        <a14:foregroundMark x1="47686" y1="66987" x2="66067" y2="84453"/>
                        <a14:foregroundMark x1="66067" y1="84453" x2="58226" y2="80230"/>
                        <a14:foregroundMark x1="58226" y1="80230" x2="82262" y2="89443"/>
                        <a14:foregroundMark x1="94987" y1="48752" x2="93959" y2="32821"/>
                        <a14:foregroundMark x1="93959" y1="32821" x2="60668" y2="5566"/>
                        <a14:foregroundMark x1="60668" y1="5566" x2="24807" y2="5950"/>
                        <a14:foregroundMark x1="24807" y1="5950" x2="7198" y2="22073"/>
                        <a14:foregroundMark x1="7198" y1="22073" x2="1799" y2="64683"/>
                        <a14:foregroundMark x1="1799" y1="64683" x2="1285" y2="88292"/>
                        <a14:foregroundMark x1="1285" y1="88292" x2="81234" y2="95393"/>
                        <a14:foregroundMark x1="81234" y1="95393" x2="94344" y2="86180"/>
                        <a14:foregroundMark x1="94344" y1="86180" x2="96915" y2="60077"/>
                        <a14:foregroundMark x1="96915" y1="60077" x2="95501" y2="46833"/>
                        <a14:foregroundMark x1="18509" y1="30902" x2="257" y2="41459"/>
                        <a14:foregroundMark x1="257" y1="41459" x2="3213" y2="92322"/>
                        <a14:foregroundMark x1="3213" y1="92322" x2="20951" y2="98273"/>
                        <a14:foregroundMark x1="20951" y1="98273" x2="42159" y2="80230"/>
                        <a14:foregroundMark x1="42159" y1="80230" x2="44344" y2="49712"/>
                        <a14:foregroundMark x1="44344" y1="49712" x2="30206" y2="29942"/>
                        <a14:foregroundMark x1="30206" y1="29942" x2="16195" y2="25912"/>
                        <a14:foregroundMark x1="16195" y1="25912" x2="15681" y2="26104"/>
                        <a14:foregroundMark x1="32262" y1="30326" x2="16967" y2="33397"/>
                        <a14:foregroundMark x1="16967" y1="33397" x2="4499" y2="64875"/>
                        <a14:foregroundMark x1="4499" y1="64875" x2="21465" y2="85413"/>
                        <a14:foregroundMark x1="21465" y1="85413" x2="29563" y2="46065"/>
                        <a14:foregroundMark x1="29563" y1="46065" x2="16838" y2="36660"/>
                        <a14:foregroundMark x1="69923" y1="3839" x2="62982" y2="1344"/>
                        <a14:foregroundMark x1="62982" y1="1344" x2="49486" y2="4223"/>
                        <a14:foregroundMark x1="49486" y1="4223" x2="63625" y2="9597"/>
                        <a14:foregroundMark x1="63625" y1="9597" x2="63753" y2="6334"/>
                        <a14:foregroundMark x1="55527" y1="1727" x2="54499" y2="1727"/>
                        <a14:foregroundMark x1="74807" y1="25912" x2="62339" y2="32246"/>
                        <a14:foregroundMark x1="62339" y1="32246" x2="52442" y2="33205"/>
                        <a14:foregroundMark x1="52442" y1="33205" x2="69537" y2="50096"/>
                        <a14:foregroundMark x1="69537" y1="50096" x2="83805" y2="43378"/>
                        <a14:foregroundMark x1="83805" y1="43378" x2="74422" y2="28983"/>
                        <a14:foregroundMark x1="74422" y1="28983" x2="71080" y2="27831"/>
                        <a14:foregroundMark x1="62468" y1="4607" x2="62468" y2="4607"/>
                        <a14:backgroundMark x1="51028" y1="22841" x2="51157" y2="22457"/>
                        <a14:backgroundMark x1="63753" y1="25144" x2="63753" y2="24952"/>
                        <a14:backgroundMark x1="64396" y1="25144" x2="62982" y2="23992"/>
                        <a14:backgroundMark x1="63111" y1="24760" x2="61954" y2="26296"/>
                        <a14:backgroundMark x1="61697" y1="25720" x2="64933" y2="27688"/>
                        <a14:backgroundMark x1="64139" y1="23992" x2="63111" y2="24376"/>
                        <a14:backgroundMark x1="49871" y1="23417" x2="51414" y2="27831"/>
                        <a14:backgroundMark x1="52057" y1="23800" x2="49486" y2="241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8166" y="947391"/>
            <a:ext cx="7411484" cy="496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941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03347A-B556-747F-1AB1-9CB362F5C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4CE020-F86B-BBF8-4262-DB058C04D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7F63E9-239B-5EB9-CD7D-A749A0C32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96F24D-9104-BE3D-9125-5CF120915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Solution 2:</a:t>
            </a: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linear BCA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25E881-E768-970E-A5B7-BEC4546AD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0563" y="318653"/>
            <a:ext cx="5944430" cy="622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484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90E057-DDB1-A5D9-C79A-961DCED08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CBAD2F2-0076-1C5E-9A4A-578E173EB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B8E4C1-EAD1-2B25-63AE-D3439DBF3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2966AE-D2DE-61B6-F0CE-CFC5DA917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Solution 2:</a:t>
            </a: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linear BCA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264CE5-0048-B20F-6923-FEFE8E47C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514" y="962966"/>
            <a:ext cx="7716327" cy="518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207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48E8BA-3539-D8F1-B1C3-61C7DC3C9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F3739F6-C798-222C-9F3B-F81CBDD7A2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85E62D-035C-608A-4D31-8C2CDABD2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A8097E-4CF2-BFC3-1C61-1BB079DB7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Problem 3:</a:t>
            </a: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Non-linearity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B26288-8BB3-C64D-FB27-693728216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403" y="812029"/>
            <a:ext cx="5868219" cy="577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23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C0FF31-345B-B0A8-FC5E-FDAEFBAB4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93C7988-1ED9-30A5-DB65-4E0692DB9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674308-637F-EE75-730E-C62B308F1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561F54-8BE1-30EC-7E61-66C1400CE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Solution 3:</a:t>
            </a: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Machine learning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9A746C0-43E6-EC59-AF53-BF40526DA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7680" y="933019"/>
            <a:ext cx="8337646" cy="516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366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B35CB0-E4D0-5BBF-4024-07E2CAC9B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62D227C-2FAF-792A-1180-F890CEABB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49E4C9-82AC-7D9B-28E0-8FF6DB272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6E750-F3CE-7F16-D523-9716E613C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7AEFE71-9F06-381A-1524-22981FE43BB6}"/>
              </a:ext>
            </a:extLst>
          </p:cNvPr>
          <p:cNvGrpSpPr>
            <a:grpSpLocks noChangeAspect="1"/>
          </p:cNvGrpSpPr>
          <p:nvPr/>
        </p:nvGrpSpPr>
        <p:grpSpPr>
          <a:xfrm>
            <a:off x="5053008" y="617597"/>
            <a:ext cx="3855018" cy="5905677"/>
            <a:chOff x="4708880" y="969014"/>
            <a:chExt cx="3448248" cy="531069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6550579-CB14-5DAD-E14F-2A632B386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129"/>
            <a:stretch>
              <a:fillRect/>
            </a:stretch>
          </p:blipFill>
          <p:spPr>
            <a:xfrm>
              <a:off x="4708880" y="969014"/>
              <a:ext cx="3448248" cy="5310697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96CFA0D-5B8D-65FA-336F-091054E7FC32}"/>
                </a:ext>
              </a:extLst>
            </p:cNvPr>
            <p:cNvSpPr/>
            <p:nvPr/>
          </p:nvSpPr>
          <p:spPr>
            <a:xfrm>
              <a:off x="7735672" y="1264484"/>
              <a:ext cx="332510" cy="1708729"/>
            </a:xfrm>
            <a:prstGeom prst="rect">
              <a:avLst/>
            </a:prstGeom>
            <a:solidFill>
              <a:srgbClr val="FF0000">
                <a:alpha val="3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7BD544B-8A48-E745-228E-F80992914190}"/>
                </a:ext>
              </a:extLst>
            </p:cNvPr>
            <p:cNvSpPr/>
            <p:nvPr/>
          </p:nvSpPr>
          <p:spPr>
            <a:xfrm>
              <a:off x="6156268" y="3301102"/>
              <a:ext cx="332510" cy="1708729"/>
            </a:xfrm>
            <a:prstGeom prst="rect">
              <a:avLst/>
            </a:prstGeom>
            <a:solidFill>
              <a:srgbClr val="FF0000">
                <a:alpha val="3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822715F-72EA-CF87-11CE-278FCBBEF54A}"/>
                </a:ext>
              </a:extLst>
            </p:cNvPr>
            <p:cNvSpPr/>
            <p:nvPr/>
          </p:nvSpPr>
          <p:spPr>
            <a:xfrm>
              <a:off x="7735672" y="3301102"/>
              <a:ext cx="332510" cy="1708729"/>
            </a:xfrm>
            <a:prstGeom prst="rect">
              <a:avLst/>
            </a:prstGeom>
            <a:solidFill>
              <a:srgbClr val="FF0000">
                <a:alpha val="3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85ACCB7-8C67-5B9C-6952-AAE98572F1B3}"/>
                </a:ext>
              </a:extLst>
            </p:cNvPr>
            <p:cNvSpPr/>
            <p:nvPr/>
          </p:nvSpPr>
          <p:spPr>
            <a:xfrm>
              <a:off x="6156268" y="1258402"/>
              <a:ext cx="332510" cy="1708729"/>
            </a:xfrm>
            <a:prstGeom prst="rect">
              <a:avLst/>
            </a:prstGeom>
            <a:solidFill>
              <a:srgbClr val="FF0000">
                <a:alpha val="3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26017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1115</TotalTime>
  <Words>83</Words>
  <Application>Microsoft Office PowerPoint</Application>
  <PresentationFormat>Widescreen</PresentationFormat>
  <Paragraphs>14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Baseline Covariate Adjustment For longitudinal research in the social sciences</vt:lpstr>
      <vt:lpstr>PowerPoint Presentation</vt:lpstr>
      <vt:lpstr>Panel data</vt:lpstr>
      <vt:lpstr>Problem 1:  Confounders</vt:lpstr>
      <vt:lpstr>Solution 1:   RI-CLPM</vt:lpstr>
      <vt:lpstr>Problem 2:  Variation</vt:lpstr>
      <vt:lpstr>Problem 2:  Variation</vt:lpstr>
      <vt:lpstr>Problem 2:  Variation</vt:lpstr>
      <vt:lpstr>Solution 2:  linear BCA</vt:lpstr>
      <vt:lpstr>Solution 2:  linear BCA</vt:lpstr>
      <vt:lpstr>Solution 2:  linear BCA</vt:lpstr>
      <vt:lpstr>Problem 3:  Non-linearity</vt:lpstr>
      <vt:lpstr>Solution 3:  Machine learning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Holten, E.D. van (Mano)</dc:creator>
  <cp:lastModifiedBy>Holten, E.D. van (Mano)</cp:lastModifiedBy>
  <cp:revision>6</cp:revision>
  <dcterms:created xsi:type="dcterms:W3CDTF">2025-12-01T13:32:56Z</dcterms:created>
  <dcterms:modified xsi:type="dcterms:W3CDTF">2025-12-09T20:25:45Z</dcterms:modified>
</cp:coreProperties>
</file>