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59" r:id="rId5"/>
    <p:sldId id="260" r:id="rId6"/>
    <p:sldId id="262" r:id="rId7"/>
    <p:sldId id="257" r:id="rId8"/>
    <p:sldId id="263" r:id="rId9"/>
    <p:sldId id="269" r:id="rId10"/>
    <p:sldId id="266" r:id="rId11"/>
    <p:sldId id="264" r:id="rId12"/>
    <p:sldId id="265" r:id="rId13"/>
    <p:sldId id="270" r:id="rId14"/>
    <p:sldId id="271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0F7A9-A714-772C-64AF-8852D1436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810AEE-0707-098B-20EF-25F7217CA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A1FBA-3285-B640-EEA4-61FBC4E37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C5790-ED67-4BB7-8607-EA1DCC2EAB8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AC8F6-0505-4D92-EF46-844942053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75D94-CF85-3380-6047-ABB0E8E0B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85B91-0448-426F-923A-F49D3069A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11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ACB3A-9A2D-45EE-FF0D-4D56A6632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D35F3-C560-1F07-D864-DBD66BA9B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E259D-7F8C-A2C9-4172-FD5094B27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C5790-ED67-4BB7-8607-EA1DCC2EAB8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3C5E3-AF06-6988-4D26-6D10F4A17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11A58-0D28-4C1F-914F-B320AA3A9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85B91-0448-426F-923A-F49D3069A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45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458D5-ACD8-9FD1-9233-35FDFA109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A4042-D8B2-11F8-9682-B61827E63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FB5CE-E582-8209-7495-D04B07440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C5790-ED67-4BB7-8607-EA1DCC2EAB8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397D8-E365-C857-A255-BF126DEF2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EAAEA-4053-2936-7E8B-04A12C297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85B91-0448-426F-923A-F49D3069A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2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21D7A-48C0-0A2C-583E-BB85930B0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E4097-F944-8329-C0CB-4F5FE21DF5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703995-45FD-08AE-02F6-84EA0C6DA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CF5EC-4B7C-5B3D-FEE5-59EA10110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C5790-ED67-4BB7-8607-EA1DCC2EAB8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DDE4A6-1C09-9C04-902C-51DF12CF7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80480-0C01-0DC2-B57E-858DCF85D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85B91-0448-426F-923A-F49D3069A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69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7BF3B-E4A2-1271-40FF-C91F421AB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AE8A4-9C64-8880-9768-02A4A9166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9E2BE7-59BA-2F94-038B-6B5F6A811A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9E3269-8763-7C95-E714-AAAD9D282F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E04BA0-7663-FF23-5EEC-258D0F2540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3B379F-C648-DE0F-6A03-A9E8DB29B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C5790-ED67-4BB7-8607-EA1DCC2EAB8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CA4D01-32F6-4B3C-AAF1-BB4D4BBB1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CDCD52-6E2A-749F-DCD0-E41160D50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85B91-0448-426F-923A-F49D3069A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844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516F2-F6D0-500F-665A-F28F84E0E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96378B-35AE-F764-C391-6EFFF984E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C5790-ED67-4BB7-8607-EA1DCC2EAB8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9CF7FD-B403-936C-6F46-70578B158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553565-CAF4-3B2B-AA01-B03CE8B55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85B91-0448-426F-923A-F49D3069A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507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ED56E-92FC-C550-28B7-DC307CD59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C5790-ED67-4BB7-8607-EA1DCC2EAB8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F7C8F-9F03-A282-8227-F7368A78B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FADF8-6834-606D-0A77-A8D5A1804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85B91-0448-426F-923A-F49D3069A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724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33404-7A61-EFCC-71FE-28126B1CC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32CA2-D1D4-1272-D905-DA2930389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33BEB-FDF8-9887-A913-824B533A5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20579-F630-8969-A8F8-5B97BD07E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C5790-ED67-4BB7-8607-EA1DCC2EAB8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1B9F8-8354-A358-C1A6-D2207C1F6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39FC1E-C6B4-A656-B076-BFE05A0CB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85B91-0448-426F-923A-F49D3069A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72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950D-91F9-2F80-F2CC-CD03B6E7F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F65DFB-D217-6DF9-6012-FA1F8C403F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3DC384-6074-7648-D6C0-FB97B6D23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CE824-7FBC-2420-0138-A93D51D47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C5790-ED67-4BB7-8607-EA1DCC2EAB8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93BA2-A071-1A9C-C989-90EC79344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05AE6-7A0A-9E2B-2CA7-C75C2EE83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85B91-0448-426F-923A-F49D3069A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86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A32F2-E8CD-AC32-E184-6783186E7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9863EC-866E-DD6A-AF36-7C5764E2C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165EC-FF04-D3ED-D9D2-052F665CA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C5790-ED67-4BB7-8607-EA1DCC2EAB8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2907F-5548-9AB8-79EC-6C5FA285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AED9F-0087-75BB-E6DD-8B5336C41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85B91-0448-426F-923A-F49D3069A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230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4CF2AC-44A6-7978-8275-A3B995568E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CD5968-78E9-3FAD-C7A1-832ECA760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0FA76-EF93-CDC8-491D-4AF729D20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C5790-ED67-4BB7-8607-EA1DCC2EAB8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725A5-6DFF-9F62-4B79-0736C5B16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C2E3E-7C4F-89E6-311D-37B9DF63C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85B91-0448-426F-923A-F49D3069A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18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52DFC5-A9CD-5D3F-D573-3B4254940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FC1DC-A56B-4B75-2168-F5077B1DB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690D-705D-DF64-69A9-D79299A334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1C5790-ED67-4BB7-8607-EA1DCC2EAB8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8652D-87E0-CC1E-E73A-749B8AB3F2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1A934-1070-1A25-889A-854D381D9E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585B91-0448-426F-923A-F49D3069A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685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D2EEB-5CD1-9AAC-8512-56A598809F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Thesis Meeting 17/3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E6D032-C6B4-200B-236F-55A718E0E5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Mano</a:t>
            </a:r>
          </a:p>
        </p:txBody>
      </p:sp>
    </p:spTree>
    <p:extLst>
      <p:ext uri="{BB962C8B-B14F-4D97-AF65-F5344CB8AC3E}">
        <p14:creationId xmlns:p14="http://schemas.microsoft.com/office/powerpoint/2010/main" val="2084364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61809C-458A-D037-BD3E-7D073C112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881407-EB92-7EA5-8377-42BCCABA51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6200000">
            <a:off x="5383296" y="1221223"/>
            <a:ext cx="5568739" cy="441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70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81CF8-1999-00C2-D4EA-85BE3CB73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59ED1-63FE-C394-96D6-0639FD128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Explicit control in the model.</a:t>
            </a:r>
          </a:p>
          <a:p>
            <a:pPr lvl="1"/>
            <a:r>
              <a:rPr lang="en-US" dirty="0"/>
              <a:t>Outcome model.</a:t>
            </a:r>
          </a:p>
          <a:p>
            <a:pPr lvl="1"/>
            <a:r>
              <a:rPr lang="en-US" dirty="0"/>
              <a:t>Treatment model.</a:t>
            </a:r>
          </a:p>
          <a:p>
            <a:r>
              <a:rPr lang="en-US" dirty="0"/>
              <a:t>Control using latent variables.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Instrumental variables.  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2237B5-1A3E-7E5C-7259-B5FCBD7C6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686734" y="974310"/>
            <a:ext cx="6044497" cy="490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83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6581F-1DB7-6DC4-CDF4-B764C728B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A41B5-D687-753C-21D6-AD3452493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C8410A-CF6B-A7C9-79F2-1F3BA9960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We do not observe one or more baseline confounders.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time-invariant confounder has a varying effect.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effect of the confounder is not linear.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The confounder is not normally distributed.</a:t>
            </a:r>
          </a:p>
        </p:txBody>
      </p:sp>
    </p:spTree>
    <p:extLst>
      <p:ext uri="{BB962C8B-B14F-4D97-AF65-F5344CB8AC3E}">
        <p14:creationId xmlns:p14="http://schemas.microsoft.com/office/powerpoint/2010/main" val="2375006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99751-4890-88BC-A913-5D621728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do we have an issue?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5E815C-395B-C227-4922-4A646AF744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1731708"/>
              </p:ext>
            </p:extLst>
          </p:nvPr>
        </p:nvGraphicFramePr>
        <p:xfrm>
          <a:off x="838200" y="1825625"/>
          <a:ext cx="10515596" cy="3200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628899">
                  <a:extLst>
                    <a:ext uri="{9D8B030D-6E8A-4147-A177-3AD203B41FA5}">
                      <a16:colId xmlns:a16="http://schemas.microsoft.com/office/drawing/2014/main" val="2398283878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1043960858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3559857575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34585452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Latent variable approaches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Linear adjustment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Flexible adjustment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896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Unobserved confounders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291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Varying effects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Vink et al (in prep)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602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Non-linear effects</a:t>
                      </a:r>
                    </a:p>
                    <a:p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75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Non-normality</a:t>
                      </a:r>
                    </a:p>
                    <a:p>
                      <a:endParaRPr lang="en-US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Probably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Probably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176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9382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129C9-5359-CC5D-4726-B5883E344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approaches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463F72-E15D-B204-5BE7-C2F92FB45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471" y="1554105"/>
            <a:ext cx="8987874" cy="407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340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127C34-4370-52AB-139C-6C2557FB5BC2}"/>
              </a:ext>
            </a:extLst>
          </p:cNvPr>
          <p:cNvSpPr/>
          <p:nvPr/>
        </p:nvSpPr>
        <p:spPr>
          <a:xfrm>
            <a:off x="2310580" y="1710812"/>
            <a:ext cx="1877961" cy="100289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Generation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BEE035-4735-D098-DAF6-868E705BBB48}"/>
              </a:ext>
            </a:extLst>
          </p:cNvPr>
          <p:cNvSpPr/>
          <p:nvPr/>
        </p:nvSpPr>
        <p:spPr>
          <a:xfrm>
            <a:off x="5098025" y="1710811"/>
            <a:ext cx="1877961" cy="100289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BCA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ED36CEA-E3A5-7072-69A8-05D32B2571CC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4188541" y="2212257"/>
            <a:ext cx="90948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C024090-0A72-CD25-5D3E-29E7F45C19B8}"/>
              </a:ext>
            </a:extLst>
          </p:cNvPr>
          <p:cNvSpPr/>
          <p:nvPr/>
        </p:nvSpPr>
        <p:spPr>
          <a:xfrm>
            <a:off x="7885470" y="1710811"/>
            <a:ext cx="1877961" cy="100289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SEM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08EE564-9CB3-3246-798B-A5E7BDAC35E4}"/>
              </a:ext>
            </a:extLst>
          </p:cNvPr>
          <p:cNvCxnSpPr>
            <a:cxnSpLocks/>
          </p:cNvCxnSpPr>
          <p:nvPr/>
        </p:nvCxnSpPr>
        <p:spPr>
          <a:xfrm flipV="1">
            <a:off x="6975986" y="2212255"/>
            <a:ext cx="90948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C716E60-0CF3-83E6-0D53-B1793771D999}"/>
              </a:ext>
            </a:extLst>
          </p:cNvPr>
          <p:cNvSpPr/>
          <p:nvPr/>
        </p:nvSpPr>
        <p:spPr>
          <a:xfrm>
            <a:off x="2310578" y="2875935"/>
            <a:ext cx="1307691" cy="82591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Confounder effects at t=1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2B6DF75-F8CF-9926-DE55-995415A7B424}"/>
              </a:ext>
            </a:extLst>
          </p:cNvPr>
          <p:cNvSpPr/>
          <p:nvPr/>
        </p:nvSpPr>
        <p:spPr>
          <a:xfrm>
            <a:off x="2310578" y="3934132"/>
            <a:ext cx="1307691" cy="82591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Confounder effects at t&gt;1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A714D1D-6E5F-9A30-5F7A-99970E031BF5}"/>
              </a:ext>
            </a:extLst>
          </p:cNvPr>
          <p:cNvSpPr/>
          <p:nvPr/>
        </p:nvSpPr>
        <p:spPr>
          <a:xfrm>
            <a:off x="2310578" y="4992329"/>
            <a:ext cx="1307691" cy="82591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Variance calculations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240D39A-EF4C-108C-7C90-8DEE368412B4}"/>
              </a:ext>
            </a:extLst>
          </p:cNvPr>
          <p:cNvSpPr/>
          <p:nvPr/>
        </p:nvSpPr>
        <p:spPr>
          <a:xfrm>
            <a:off x="5098025" y="2875935"/>
            <a:ext cx="1307691" cy="82591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Methods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9B067A8-9037-1B47-4611-EAB8D146C322}"/>
              </a:ext>
            </a:extLst>
          </p:cNvPr>
          <p:cNvSpPr/>
          <p:nvPr/>
        </p:nvSpPr>
        <p:spPr>
          <a:xfrm>
            <a:off x="5098025" y="3934132"/>
            <a:ext cx="1307691" cy="82591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Bootstrapping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2660EEE-5E94-E8A4-F9FD-0DFF6D6538C6}"/>
              </a:ext>
            </a:extLst>
          </p:cNvPr>
          <p:cNvSpPr/>
          <p:nvPr/>
        </p:nvSpPr>
        <p:spPr>
          <a:xfrm>
            <a:off x="7885470" y="2875935"/>
            <a:ext cx="1307691" cy="82591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Freed Factor loadings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E400B8B-DF09-B31D-4318-04724B8B666D}"/>
              </a:ext>
            </a:extLst>
          </p:cNvPr>
          <p:cNvSpPr/>
          <p:nvPr/>
        </p:nvSpPr>
        <p:spPr>
          <a:xfrm>
            <a:off x="7919887" y="3934132"/>
            <a:ext cx="1307691" cy="82591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BCA + Latent Vars 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9D5315C8-666C-1102-DC33-F2158DA65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620471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A2811-A05C-D6CA-6A64-E25297DAD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generation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26DED3-7052-F19C-3766-77DE1928EE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6200000">
            <a:off x="1304982" y="981513"/>
            <a:ext cx="5123237" cy="58994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6C939E-C713-DE8D-6F3C-9678B03B8049}"/>
              </a:ext>
            </a:extLst>
          </p:cNvPr>
          <p:cNvSpPr txBox="1"/>
          <p:nvPr/>
        </p:nvSpPr>
        <p:spPr>
          <a:xfrm>
            <a:off x="7708490" y="1690688"/>
            <a:ext cx="28415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Var(X) = Var(Y) =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Omega looks like that only in the case that: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 ~ N(0,1)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465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4B46C-B6BB-8DF6-1999-8D748ED71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3F87D-ACE3-210C-C88B-B7E916CC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generation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524875-4ED7-9ED1-3C2C-E4E54DEC2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352" y="1690688"/>
            <a:ext cx="8601031" cy="413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585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A0AB5-D95D-36F1-D08B-16101460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delta matrix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326B68-6FA6-41BD-326A-FD4712CFE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09" y="1454216"/>
            <a:ext cx="7763398" cy="485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135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79636-CA8C-BCEA-1604-9286FDC7E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DA94B-7972-39C4-E4F7-DC0CB0D24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capacity: bias variance trade-off.</a:t>
            </a:r>
          </a:p>
          <a:p>
            <a:pPr lvl="1"/>
            <a:r>
              <a:rPr lang="en-US" dirty="0" err="1"/>
              <a:t>Xgboost</a:t>
            </a:r>
            <a:endParaRPr lang="en-US" dirty="0"/>
          </a:p>
          <a:p>
            <a:pPr lvl="1"/>
            <a:r>
              <a:rPr lang="en-US" dirty="0"/>
              <a:t>TBA: Lasso regression</a:t>
            </a:r>
          </a:p>
          <a:p>
            <a:pPr lvl="1"/>
            <a:r>
              <a:rPr lang="en-US" dirty="0"/>
              <a:t>TBA: </a:t>
            </a:r>
            <a:r>
              <a:rPr lang="en-US" dirty="0" err="1"/>
              <a:t>TabPFN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Bootstrap </a:t>
            </a:r>
            <a:r>
              <a:rPr lang="en-US" dirty="0" err="1"/>
              <a:t>s.e.</a:t>
            </a:r>
            <a:r>
              <a:rPr lang="en-US" dirty="0"/>
              <a:t> estimates.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543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13B1F-F55A-27D3-6EAC-117FCA0DF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A18B2-2BCA-EE4D-2959-142393CD1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RICLPM</a:t>
            </a:r>
          </a:p>
          <a:p>
            <a:r>
              <a:rPr lang="en-US" dirty="0"/>
              <a:t>DPM</a:t>
            </a:r>
          </a:p>
        </p:txBody>
      </p:sp>
    </p:spTree>
    <p:extLst>
      <p:ext uri="{BB962C8B-B14F-4D97-AF65-F5344CB8AC3E}">
        <p14:creationId xmlns:p14="http://schemas.microsoft.com/office/powerpoint/2010/main" val="4215191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BE01B-2838-1B5E-A4E5-CD745D2D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D466E8-089D-9E2C-525C-2D4CA5456B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046600" y="-4016062"/>
            <a:ext cx="7551654" cy="1331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384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7E8BC-446A-5F90-E8DB-E31E29C2A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FA29248-C552-842A-31F2-FE97839A11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38200" y="365125"/>
            <a:ext cx="7256050" cy="725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346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2057-6FFF-BFE6-024D-271C19A0B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23" y="354367"/>
            <a:ext cx="10515600" cy="1325563"/>
          </a:xfrm>
        </p:spPr>
        <p:txBody>
          <a:bodyPr/>
          <a:lstStyle/>
          <a:p>
            <a:r>
              <a:rPr lang="en-US" dirty="0"/>
              <a:t>Sim studies (1)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A6D4E9-61D2-CFED-F319-4564FB6A6C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079966"/>
              </p:ext>
            </p:extLst>
          </p:nvPr>
        </p:nvGraphicFramePr>
        <p:xfrm>
          <a:off x="606323" y="1390771"/>
          <a:ext cx="10504129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251">
                  <a:extLst>
                    <a:ext uri="{9D8B030D-6E8A-4147-A177-3AD203B41FA5}">
                      <a16:colId xmlns:a16="http://schemas.microsoft.com/office/drawing/2014/main" val="2001065591"/>
                    </a:ext>
                  </a:extLst>
                </a:gridCol>
                <a:gridCol w="1757768">
                  <a:extLst>
                    <a:ext uri="{9D8B030D-6E8A-4147-A177-3AD203B41FA5}">
                      <a16:colId xmlns:a16="http://schemas.microsoft.com/office/drawing/2014/main" val="2433874881"/>
                    </a:ext>
                  </a:extLst>
                </a:gridCol>
                <a:gridCol w="1123084">
                  <a:extLst>
                    <a:ext uri="{9D8B030D-6E8A-4147-A177-3AD203B41FA5}">
                      <a16:colId xmlns:a16="http://schemas.microsoft.com/office/drawing/2014/main" val="3464504445"/>
                    </a:ext>
                  </a:extLst>
                </a:gridCol>
                <a:gridCol w="1484671">
                  <a:extLst>
                    <a:ext uri="{9D8B030D-6E8A-4147-A177-3AD203B41FA5}">
                      <a16:colId xmlns:a16="http://schemas.microsoft.com/office/drawing/2014/main" val="214330825"/>
                    </a:ext>
                  </a:extLst>
                </a:gridCol>
                <a:gridCol w="1533832">
                  <a:extLst>
                    <a:ext uri="{9D8B030D-6E8A-4147-A177-3AD203B41FA5}">
                      <a16:colId xmlns:a16="http://schemas.microsoft.com/office/drawing/2014/main" val="3653818921"/>
                    </a:ext>
                  </a:extLst>
                </a:gridCol>
                <a:gridCol w="2841523">
                  <a:extLst>
                    <a:ext uri="{9D8B030D-6E8A-4147-A177-3AD203B41FA5}">
                      <a16:colId xmlns:a16="http://schemas.microsoft.com/office/drawing/2014/main" val="248906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Delta station.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observed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Normality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56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Upper 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951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Worse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 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265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761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BCALM CLPM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879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BCAXGB CLPM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181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032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RICLPM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415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64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779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RICLPM 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611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DPM 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701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745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92A7B-742A-DA74-6E84-02442FCF8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755A6-1EB9-C824-9788-F0A5528F4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23" y="354367"/>
            <a:ext cx="10515600" cy="1325563"/>
          </a:xfrm>
        </p:spPr>
        <p:txBody>
          <a:bodyPr/>
          <a:lstStyle/>
          <a:p>
            <a:r>
              <a:rPr lang="en-US" dirty="0"/>
              <a:t>Sim studies (2)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BE8C45-33DA-59DC-E6AA-CEB13742E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758759"/>
              </p:ext>
            </p:extLst>
          </p:nvPr>
        </p:nvGraphicFramePr>
        <p:xfrm>
          <a:off x="606323" y="1390771"/>
          <a:ext cx="10504129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400">
                  <a:extLst>
                    <a:ext uri="{9D8B030D-6E8A-4147-A177-3AD203B41FA5}">
                      <a16:colId xmlns:a16="http://schemas.microsoft.com/office/drawing/2014/main" val="2001065591"/>
                    </a:ext>
                  </a:extLst>
                </a:gridCol>
                <a:gridCol w="1779638">
                  <a:extLst>
                    <a:ext uri="{9D8B030D-6E8A-4147-A177-3AD203B41FA5}">
                      <a16:colId xmlns:a16="http://schemas.microsoft.com/office/drawing/2014/main" val="2433874881"/>
                    </a:ext>
                  </a:extLst>
                </a:gridCol>
                <a:gridCol w="1238865">
                  <a:extLst>
                    <a:ext uri="{9D8B030D-6E8A-4147-A177-3AD203B41FA5}">
                      <a16:colId xmlns:a16="http://schemas.microsoft.com/office/drawing/2014/main" val="3464504445"/>
                    </a:ext>
                  </a:extLst>
                </a:gridCol>
                <a:gridCol w="1553497">
                  <a:extLst>
                    <a:ext uri="{9D8B030D-6E8A-4147-A177-3AD203B41FA5}">
                      <a16:colId xmlns:a16="http://schemas.microsoft.com/office/drawing/2014/main" val="214330825"/>
                    </a:ext>
                  </a:extLst>
                </a:gridCol>
                <a:gridCol w="1238864">
                  <a:extLst>
                    <a:ext uri="{9D8B030D-6E8A-4147-A177-3AD203B41FA5}">
                      <a16:colId xmlns:a16="http://schemas.microsoft.com/office/drawing/2014/main" val="3653818921"/>
                    </a:ext>
                  </a:extLst>
                </a:gridCol>
                <a:gridCol w="2762865">
                  <a:extLst>
                    <a:ext uri="{9D8B030D-6E8A-4147-A177-3AD203B41FA5}">
                      <a16:colId xmlns:a16="http://schemas.microsoft.com/office/drawing/2014/main" val="248906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Delta station.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observed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Normality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56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BCALM RICLPM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951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BCAXGB RICLPM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265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761022"/>
                  </a:ext>
                </a:extLst>
              </a:tr>
              <a:tr h="341017">
                <a:tc>
                  <a:txBody>
                    <a:bodyPr/>
                    <a:lstStyle/>
                    <a:p>
                      <a:r>
                        <a:rPr lang="en-US" dirty="0"/>
                        <a:t>BCALM DPM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879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BCAXGB DPM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181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032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415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64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779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611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701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6005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246</Words>
  <Application>Microsoft Office PowerPoint</Application>
  <PresentationFormat>Widescreen</PresentationFormat>
  <Paragraphs>94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Thesis Meeting 17/3</vt:lpstr>
      <vt:lpstr>Problem</vt:lpstr>
      <vt:lpstr>Solutions</vt:lpstr>
      <vt:lpstr>Problems</vt:lpstr>
      <vt:lpstr>When do we have an issue?</vt:lpstr>
      <vt:lpstr>Combining approaches</vt:lpstr>
      <vt:lpstr>Overview</vt:lpstr>
      <vt:lpstr>Data generation</vt:lpstr>
      <vt:lpstr>Data generation</vt:lpstr>
      <vt:lpstr>The delta matrix</vt:lpstr>
      <vt:lpstr>BCA</vt:lpstr>
      <vt:lpstr>SEM</vt:lpstr>
      <vt:lpstr>PowerPoint Presentation</vt:lpstr>
      <vt:lpstr>PowerPoint Presentation</vt:lpstr>
      <vt:lpstr>Sim studies (1)</vt:lpstr>
      <vt:lpstr>Sim studies (2)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Holten, E.D. van (Mano)</dc:creator>
  <cp:lastModifiedBy>Holten, E.D. van (Mano)</cp:lastModifiedBy>
  <cp:revision>6</cp:revision>
  <dcterms:created xsi:type="dcterms:W3CDTF">2026-03-17T12:11:04Z</dcterms:created>
  <dcterms:modified xsi:type="dcterms:W3CDTF">2026-03-18T16:27:13Z</dcterms:modified>
</cp:coreProperties>
</file>