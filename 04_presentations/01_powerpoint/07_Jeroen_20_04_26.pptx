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C8432-63CF-4A1C-8184-4EC916107B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A4AF9-CC84-4BB0-AE6F-34518FE7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plots for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1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MSE pots for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15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plots for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9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C6E24-9719-4530-C13E-E8BB71CB8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5893B-BCA9-BA47-70AC-4FB1439B6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090F8-B0C3-0C58-7B6F-16759E6F7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plots for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1960E-BC1A-9189-E0E8-FE4024861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16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0B44-6BDE-E44F-FBB4-1FA6BF5F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C5F14-F2E3-C84B-B790-B41F8D33A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E5086-A62D-2B9A-AD38-B916BCE42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plots for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F10F-5AD0-6A48-69BD-D787EB3FF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20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BD15-12ED-7249-DD65-9DBB15F1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9F6C5-5215-39E7-DC48-9A11B6C30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6C37B-F131-F236-966A-D9B34E51B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plots for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2401F-6E65-AEC9-6863-2749E6F3D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5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274B-7FD0-DAD0-8C8F-5F01E9EF6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0D623-B8B3-9A24-5BCC-DD2E4DD8F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4C7B3-2EEF-9F63-7429-3EC87766D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plots for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60237-E50E-4E3E-DA43-39F52E8A3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03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4BFA-60DB-C4DE-9F18-EDE6BF12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8CCA2-396D-2985-0A27-E1D0E1579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0B35D-FC08-1432-EC78-3896BE477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plots for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AD038-CC39-7156-75BB-BD92761A8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A4AF9-CC84-4BB0-AE6F-34518FE77A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2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CE21-DF44-E591-2376-FC33E75CF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CC7E2-5F3D-D341-148F-1684B9383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46D4F-A80E-E438-6F4A-D9601ADC2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62B4C-A52D-98FD-B6D8-0FCDAA67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B7A6-6A58-2E5D-12D1-43797F06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7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D0FD-303D-EF2B-5BA8-2A146A49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7BE73-8569-B1A7-F9E3-AB04F9CBB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A595C-E7D0-195D-A829-5B6A0B242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748F4-D4B4-CAB0-01B9-CA3E9ED2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342AB-A834-E186-0187-CCA25609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8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54B41-AA8B-59A8-5B18-46B94912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CFC1C-4FB7-7DD7-851F-B57A431CA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51555-CD52-1CED-EBF2-7F704CC1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AF816-23DB-A72C-4600-C3408B52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CB31-427B-2507-2B29-844369DF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B968-DF02-EBE4-ECC2-70C46689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4AD8-6799-70A3-2E0E-452D5FBAD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1F62B-584E-7D86-83E5-2FAA85405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757D9-3002-7882-3683-77201D3B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7876F-A15E-8B7C-36EA-AEC52583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F8878-7325-2C88-77A6-A8547E17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9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1DA0-FA50-F531-AFC5-A9B251FFC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7C158-0A12-BB40-7115-66D1E6641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CB469-B200-4EC0-FF56-C07E3F8E5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66D8E-964C-89AD-C5FB-437735BDF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ED730-EDAE-A5F6-5078-8978A27D8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6BCF3-1CF9-AF76-50E1-D20E8E40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147C6-E938-E56A-705C-4CBFCC8B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A8848-C56F-9858-4FAD-53579B75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4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9851-C65C-01B9-7918-57323E85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CDA0E-6DB5-15E3-4CEC-692838A8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46E48-723C-2C20-8DB3-D76B2BD7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5A00E-033A-AD9D-A19E-D95498C5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7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D3CFF-61AC-2A80-B303-7FC79622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E7246-941F-98B1-B0F2-7D2DB8ED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0AA24-9779-65F0-D726-7C39B694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7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FB11-D8DB-BC4A-C214-5AD9BACF4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AA7F-3DBE-9D5D-FC49-2A2DBBFD5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A3FDD-41DE-8022-247E-CFC8BB28D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9B421-6D44-FAAE-60EC-556D86026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397E5-36D2-A8D3-F480-3D7F87B3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9E15A-0873-DBAB-94F1-EC485159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7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D14D-3FB9-9C23-D704-EAA929868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31699-644E-6C5C-47BF-309B00C95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744A1-A28F-9D55-372B-A00D6AA70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DFA42-7773-2D4A-0961-1C0CB3C0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44A58-65CF-1730-4340-8FE96E16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4077E-4530-B2EF-E806-7BD83C32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4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0512-9F80-8A4E-CBCD-C8984256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FF8F5-9A08-34FF-78BE-D500172B4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79BF2-0E37-432D-C998-98404107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5280C-927A-4AC6-D16D-FBDEF221A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6E2C-E7B9-F50E-26AC-5BAEC58F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6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3BAD5-DFCE-8D65-3B3D-7E54813BC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E00F5-A2F6-3C43-4BB1-99087E57C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D944-196B-98C3-9375-0B4DBB22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87AD-28AF-80B0-CC69-11D55F56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9F2F9-23AB-6205-F0EB-C6ECB896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4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753D-554F-E327-D007-688BBA97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97079-7F44-46E2-9EA6-5B3205255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0A342-741C-FD90-F4AF-7B4E3A3E5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28DF0-4E7A-47BF-A263-CC96E112580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7CC65-1D40-45EB-A6AA-1601CB84C5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7D16C-A553-B4BB-FD50-164646A6A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6BE35-CF68-49FC-9215-E7C39A0E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1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1BBE-B8EF-D639-0BDF-86DE2A1E5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20/04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18D4D-0D43-ABF7-9FCF-B8C020DBBD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D220-0DF3-AA0B-FF99-4A0517FD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07097-AF51-40AA-A96A-F97B8E224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Parametric vs regularized vs non-parametric</a:t>
            </a:r>
          </a:p>
          <a:p>
            <a:r>
              <a:rPr lang="en-US" dirty="0"/>
              <a:t>When the DGM is linear?</a:t>
            </a:r>
          </a:p>
          <a:p>
            <a:r>
              <a:rPr lang="en-US" dirty="0"/>
              <a:t>When the DGM is NOT linear?</a:t>
            </a:r>
          </a:p>
          <a:p>
            <a:r>
              <a:rPr lang="en-US" dirty="0"/>
              <a:t>Do varying effects over time play any role?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88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044C-87D1-8256-47BA-7744EEEC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296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Scenario 1: linear, stationary effects (R2 = 0.05)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70964-8AF3-ED92-5F2F-8E8535AA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77" y="1608772"/>
            <a:ext cx="7940391" cy="490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3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4FF6-1E90-1240-8EC3-58B93D6B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Scenario 1: linear, stationary effects (R2 = 0.05)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D637D-36A7-4D79-EC44-35570246B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64" y="1159328"/>
            <a:ext cx="4093251" cy="2762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8732C6-4512-79ED-9307-61D6E93B9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63" y="3794033"/>
            <a:ext cx="4093251" cy="2762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FA5AB-4C50-3DD7-0D41-B91DAF0BB1B1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A2590-4DFE-F7DE-A2B2-5F22E90FE8F2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8E2579-A381-12A0-ED22-2E9FA6A28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362" y="1147921"/>
            <a:ext cx="4488099" cy="2773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3FDF36-E653-0332-85F8-FC1604D80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6061" y="3794033"/>
            <a:ext cx="4463797" cy="30125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35F873-F3B2-BA13-14EC-39487FE1809F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760B99-9070-9951-A866-0A817DFEB34A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</p:spTree>
    <p:extLst>
      <p:ext uri="{BB962C8B-B14F-4D97-AF65-F5344CB8AC3E}">
        <p14:creationId xmlns:p14="http://schemas.microsoft.com/office/powerpoint/2010/main" val="1070662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8A7D-2DAF-56BF-8807-15B95C7F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576F-8F42-5D01-F518-7237C085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Scenario 1: linear, stationary effects (R2 = 0.05)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65AF9-1A19-786E-DE35-860BFD770108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5AA97-884D-2FD8-7607-B1CB7E7DA7FB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D63F46-A6C6-5CF5-9A24-3F61A24FC595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E61597-B7C8-5A2B-10A8-A2B05663DFBD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FE982-71A6-F527-C5CC-DB6987C3B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31" y="1110045"/>
            <a:ext cx="4269244" cy="2638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335A59-6A81-9EAF-100F-0E595A94F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531" y="3772601"/>
            <a:ext cx="4359197" cy="26941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95C77F-31A5-C35A-9078-542680DBF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941" y="1016557"/>
            <a:ext cx="4158594" cy="28065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6C45B0-1222-6BFB-F5B7-71DBAD081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242" y="3716421"/>
            <a:ext cx="4277092" cy="288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8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39E0-9047-42BB-D2B2-2E8E0B5A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714D-46FE-C68B-5D26-DE413F377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296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2: non-linear, stationary effects (R2 = 0.05, NL =0.4)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F867F-309C-EA56-0B78-FF019C6F1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4235"/>
            <a:ext cx="8091989" cy="500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8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31F8-56FA-074F-F396-225B438A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3DC1-D98C-52C1-51EC-C0FDA445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2: non-linear, stationary effects (R2 = 0.05, NL =0.4)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82717-9215-0399-B72B-6B05A21744CF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7030B-BE56-D304-DF1B-654E9B0E8FA1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CEB21-B829-EC9C-9C33-9BB0E8FB9F08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0632FA-423D-2F37-3F16-BFDC503D7EA0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5D343-466A-37BF-6D2C-AB8C9C547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30" y="1126901"/>
            <a:ext cx="4391789" cy="2714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66A7E0-242E-5E55-AC84-A5BFECA46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530" y="3841225"/>
            <a:ext cx="4314536" cy="29117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75D2FC-990F-784B-4DB1-5ED6D13B3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941" y="1126902"/>
            <a:ext cx="4195651" cy="28315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910633-44F5-B096-2BF7-DB5A2CEC1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498" y="3841225"/>
            <a:ext cx="4391788" cy="296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0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653C-CF08-FF2F-98D2-BA2108EE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C665-1A49-E285-556D-6E4A4F0E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2: non-linear, stationary effects (R2 = 0.05, NL =0.4)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9207E4-F8E5-654F-D56C-A87BFA40FC77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E63C2-E692-20CF-71FD-00E633351EC5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4790D-21E8-11CD-1FD6-D29B1EF6B85C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93E15E-FA47-F2DA-3B33-0AB64BF7FFB0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855F91-A95E-0DEF-B67C-14622FC3F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31" y="1072002"/>
            <a:ext cx="4359197" cy="26941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2F3E4-571F-9DDE-EAA3-CA4410194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530" y="3512724"/>
            <a:ext cx="4359198" cy="29419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749935-CF7A-4FF4-490B-E357EEDCA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640" y="995183"/>
            <a:ext cx="4146800" cy="27985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630750-8267-C34E-7D04-3A54341A2E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5941" y="3584394"/>
            <a:ext cx="4418078" cy="298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80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7FA7-2ED3-044F-E884-09B8F8A5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F0FA-CB92-5EE8-3227-8F8F9B68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296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3: non-linear, varying effects (R2 = c(.05, .08), NL =.4)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C9DFF-D927-73AD-7F8A-277DD3915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36" y="1469055"/>
            <a:ext cx="8128565" cy="502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4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84B3-7460-561E-D4E9-3053F376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615B-C395-0E0E-07D9-D7A12961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3: non-linear, varying effects (R2 = c(.05, .08), NL =.4)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CB2D8-93A5-02A9-175C-3D58914BEBFA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FE9788-1A36-514E-48E9-06F8B4C248DE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A5D965-CBFA-CD1D-0B3D-3DD152446ABC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EDB4F9-CFE0-C6F8-7150-903F0531A40A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6B3DA-75F1-0990-6235-E59427354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554" y="1325563"/>
            <a:ext cx="4099151" cy="25334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C1146A-0C2A-A3A0-4D59-20B00E14A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554" y="3940194"/>
            <a:ext cx="4133776" cy="2789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4CF3FB-98AC-F560-4DB6-692543BCC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429" y="1023418"/>
            <a:ext cx="4362587" cy="29442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DB4F00-07C1-4EAA-F754-483E537AD5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034" y="3906720"/>
            <a:ext cx="4183376" cy="282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0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C109-4A04-5D0E-7A6F-AB2693936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438E-3ED2-8A46-8302-D26D6ABE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3: non-linear, varying effects (R2 = c(.05, .08), NL =.4)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F4131-2476-0AB6-B31E-1CD4E5ABD3F8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EDC80-DF8D-9231-A42B-ABFE237F8B93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736CBD-CDF4-7C6D-8C0B-FD67177C5717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6EECB-78B4-1516-A4C9-95BD1D91382F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FB3B9-CA96-5E90-4BA4-9E90AD7BE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31" y="1128109"/>
            <a:ext cx="4448033" cy="2749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63ACEE-074F-3547-5CE3-4851439F0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530" y="3701820"/>
            <a:ext cx="4448034" cy="3001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547F9E-7BEB-05D3-1D87-8A7910098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896" y="1023419"/>
            <a:ext cx="4270362" cy="28819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B979A5-B235-359B-B503-03EE375AD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17240"/>
            <a:ext cx="4448034" cy="300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9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B83C0-458C-AEEB-428E-8F7FBD9E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F59F-99D3-566A-B0F3-D7F4F8DAE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79296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5: non-linear, varying effects (R2 = c(.05, .08), NL =.4), 		omitting c1 and c2.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36481-E872-01E5-B2CB-1C82A99B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38" y="1325563"/>
            <a:ext cx="8131188" cy="502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19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3C68-15EC-1863-2966-DCD1683E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3689-FF7D-0848-E6EC-C7DF043CA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29" y="-22706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5: non-linear, varying effects (R2 = c(.05, .08), NL =.4), 		omitting c1 and c2.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797E4-2FEE-0E50-680A-1912C5F74D5E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73F52C-6B1F-4518-86D4-1A56154F9032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28885-5196-142A-496A-D691FB3ECF7F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6BC35-82C3-7BD5-0ED4-53A77F1749AA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8714D-A805-5256-2731-3C7AE415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31" y="1098499"/>
            <a:ext cx="4418619" cy="2730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C885AA-1E3F-93FE-D0CC-27EBF7033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053" y="3789514"/>
            <a:ext cx="4228675" cy="28538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6F61C0-4606-5F16-CD20-19E418373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757460"/>
            <a:ext cx="4492752" cy="30320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8FE464-5047-5372-BE57-F3382F623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640" y="3687451"/>
            <a:ext cx="4517051" cy="304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7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F4280-E3BE-9DC8-DEDC-B256093C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6F61-AF45-5597-7CFE-4DFF9ECD8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29" y="-22706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Scenario 5: non-linear, varying effects (R2 = c(.05, .08), NL =.4), 		omitting c1 and c2.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FBDDE-56CC-1BBF-E5CB-4FF877277FA3}"/>
              </a:ext>
            </a:extLst>
          </p:cNvPr>
          <p:cNvSpPr txBox="1"/>
          <p:nvPr/>
        </p:nvSpPr>
        <p:spPr>
          <a:xfrm rot="16200000">
            <a:off x="360084" y="2133358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925AD-349A-4CCD-EB1D-4FB4B8238E70}"/>
              </a:ext>
            </a:extLst>
          </p:cNvPr>
          <p:cNvSpPr txBox="1"/>
          <p:nvPr/>
        </p:nvSpPr>
        <p:spPr>
          <a:xfrm rot="16200000">
            <a:off x="360083" y="4634324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1EF02-7219-5C2B-9937-36F9CECCC9EB}"/>
              </a:ext>
            </a:extLst>
          </p:cNvPr>
          <p:cNvSpPr txBox="1"/>
          <p:nvPr/>
        </p:nvSpPr>
        <p:spPr>
          <a:xfrm rot="16200000">
            <a:off x="5088613" y="1893437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347223-B22B-F7F6-055B-C6577D36A385}"/>
              </a:ext>
            </a:extLst>
          </p:cNvPr>
          <p:cNvSpPr txBox="1"/>
          <p:nvPr/>
        </p:nvSpPr>
        <p:spPr>
          <a:xfrm rot="16200000">
            <a:off x="5112914" y="4720949"/>
            <a:ext cx="1325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150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20275-E408-96A2-474A-665F1BDE6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31" y="1197154"/>
            <a:ext cx="4178285" cy="2582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EC8E24-4950-0DA4-E29B-0D8AF18B7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685" y="3788769"/>
            <a:ext cx="4092131" cy="2761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076D2D-FFEF-DD4B-B9BB-ED10B1254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973" y="778885"/>
            <a:ext cx="4243794" cy="28640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3004AA3-F89F-CFFB-DD75-1DC82F74F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973" y="3642924"/>
            <a:ext cx="4763945" cy="321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9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5009-4FD4-CE74-7D6C-174357E8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1BDD-2FB2-3261-F06B-61D6A40BD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ML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zeer</a:t>
            </a:r>
            <a:r>
              <a:rPr lang="en-US" dirty="0"/>
              <a:t> data-</a:t>
            </a:r>
            <a:r>
              <a:rPr lang="en-US" dirty="0" err="1"/>
              <a:t>afhankelijk</a:t>
            </a:r>
            <a:r>
              <a:rPr lang="en-US" dirty="0"/>
              <a:t>.</a:t>
            </a:r>
          </a:p>
          <a:p>
            <a:r>
              <a:rPr lang="en-US" dirty="0"/>
              <a:t>Enet </a:t>
            </a:r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dirty="0" err="1"/>
              <a:t>beter</a:t>
            </a:r>
            <a:r>
              <a:rPr lang="en-US" dirty="0"/>
              <a:t> dan ML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grote</a:t>
            </a:r>
            <a:r>
              <a:rPr lang="en-US" dirty="0"/>
              <a:t> sample sizes.</a:t>
            </a:r>
          </a:p>
          <a:p>
            <a:r>
              <a:rPr lang="en-US" dirty="0" err="1"/>
              <a:t>Weggelaten</a:t>
            </a:r>
            <a:r>
              <a:rPr lang="en-US" dirty="0"/>
              <a:t> confounders is </a:t>
            </a:r>
            <a:r>
              <a:rPr lang="en-US" dirty="0" err="1"/>
              <a:t>eerder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obstakel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ML </a:t>
            </a:r>
            <a:r>
              <a:rPr lang="en-US" dirty="0" err="1"/>
              <a:t>modellen</a:t>
            </a:r>
            <a:r>
              <a:rPr lang="en-US" dirty="0"/>
              <a:t> dan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voordeel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Maarrrr</a:t>
            </a:r>
            <a:r>
              <a:rPr lang="en-US" dirty="0"/>
              <a:t>…</a:t>
            </a:r>
          </a:p>
          <a:p>
            <a:r>
              <a:rPr lang="en-US" dirty="0"/>
              <a:t>Dit </a:t>
            </a:r>
            <a:r>
              <a:rPr lang="en-US" dirty="0" err="1"/>
              <a:t>alles</a:t>
            </a:r>
            <a:r>
              <a:rPr lang="en-US" dirty="0"/>
              <a:t> is </a:t>
            </a:r>
            <a:r>
              <a:rPr lang="en-US" dirty="0" err="1"/>
              <a:t>zeer</a:t>
            </a:r>
            <a:r>
              <a:rPr lang="en-US" dirty="0"/>
              <a:t> </a:t>
            </a:r>
            <a:r>
              <a:rPr lang="en-US" dirty="0" err="1"/>
              <a:t>afhankelijk</a:t>
            </a:r>
            <a:r>
              <a:rPr lang="en-US" dirty="0"/>
              <a:t> van het </a:t>
            </a:r>
            <a:r>
              <a:rPr lang="en-US" dirty="0" err="1"/>
              <a:t>gespecificeerde</a:t>
            </a:r>
            <a:r>
              <a:rPr lang="en-US" dirty="0"/>
              <a:t> DGM. </a:t>
            </a:r>
          </a:p>
          <a:p>
            <a:pPr lvl="1"/>
            <a:r>
              <a:rPr lang="en-US" dirty="0" err="1"/>
              <a:t>Lagere</a:t>
            </a:r>
            <a:r>
              <a:rPr lang="en-US" dirty="0"/>
              <a:t> </a:t>
            </a:r>
            <a:r>
              <a:rPr lang="en-US" dirty="0" err="1"/>
              <a:t>correlaties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C’s </a:t>
            </a:r>
            <a:r>
              <a:rPr lang="en-US" dirty="0" err="1"/>
              <a:t>leiden</a:t>
            </a:r>
            <a:r>
              <a:rPr lang="en-US" dirty="0"/>
              <a:t> tot </a:t>
            </a:r>
            <a:r>
              <a:rPr lang="en-US" dirty="0" err="1"/>
              <a:t>betere</a:t>
            </a:r>
            <a:r>
              <a:rPr lang="en-US" dirty="0"/>
              <a:t> </a:t>
            </a:r>
            <a:r>
              <a:rPr lang="en-US" dirty="0" err="1"/>
              <a:t>enet</a:t>
            </a:r>
            <a:r>
              <a:rPr lang="en-US" dirty="0"/>
              <a:t> performance. </a:t>
            </a:r>
          </a:p>
          <a:p>
            <a:pPr lvl="1"/>
            <a:r>
              <a:rPr lang="en-US" dirty="0"/>
              <a:t>Grotere share NL </a:t>
            </a:r>
            <a:r>
              <a:rPr lang="en-US" dirty="0" err="1"/>
              <a:t>zou</a:t>
            </a:r>
            <a:r>
              <a:rPr lang="en-US" dirty="0"/>
              <a:t> het </a:t>
            </a:r>
            <a:r>
              <a:rPr lang="en-US" dirty="0" err="1"/>
              <a:t>lineare</a:t>
            </a:r>
            <a:r>
              <a:rPr lang="en-US" dirty="0"/>
              <a:t> model </a:t>
            </a:r>
            <a:r>
              <a:rPr lang="en-US" dirty="0" err="1"/>
              <a:t>verslechteren</a:t>
            </a:r>
            <a:endParaRPr lang="en-US" dirty="0"/>
          </a:p>
          <a:p>
            <a:pPr lvl="1"/>
            <a:r>
              <a:rPr lang="en-US" dirty="0"/>
              <a:t>Bij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niet-lineariteit</a:t>
            </a:r>
            <a:r>
              <a:rPr lang="en-US" dirty="0"/>
              <a:t>, </a:t>
            </a:r>
            <a:r>
              <a:rPr lang="en-US" dirty="0" err="1"/>
              <a:t>zoals</a:t>
            </a:r>
            <a:r>
              <a:rPr lang="en-US" dirty="0"/>
              <a:t> </a:t>
            </a:r>
            <a:r>
              <a:rPr lang="en-US" dirty="0" err="1"/>
              <a:t>sinusoide</a:t>
            </a:r>
            <a:r>
              <a:rPr lang="en-US" dirty="0"/>
              <a:t> </a:t>
            </a:r>
            <a:r>
              <a:rPr lang="en-US" dirty="0" err="1"/>
              <a:t>functies</a:t>
            </a:r>
            <a:r>
              <a:rPr lang="en-US" dirty="0"/>
              <a:t>, </a:t>
            </a:r>
            <a:r>
              <a:rPr lang="en-US" dirty="0" err="1"/>
              <a:t>logaritmische</a:t>
            </a:r>
            <a:r>
              <a:rPr lang="en-US" dirty="0"/>
              <a:t> </a:t>
            </a:r>
            <a:r>
              <a:rPr lang="en-US" dirty="0" err="1"/>
              <a:t>functies</a:t>
            </a:r>
            <a:r>
              <a:rPr lang="en-US" dirty="0"/>
              <a:t>, etc. </a:t>
            </a:r>
            <a:r>
              <a:rPr lang="en-US" dirty="0" err="1"/>
              <a:t>verslechterd</a:t>
            </a:r>
            <a:r>
              <a:rPr lang="en-US" dirty="0"/>
              <a:t> de performance van </a:t>
            </a:r>
            <a:r>
              <a:rPr lang="en-US" dirty="0" err="1"/>
              <a:t>lineare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penalized regression methods </a:t>
            </a:r>
            <a:r>
              <a:rPr lang="en-US" dirty="0" err="1"/>
              <a:t>waarschijnlijk</a:t>
            </a:r>
            <a:r>
              <a:rPr lang="en-US" dirty="0"/>
              <a:t> </a:t>
            </a:r>
            <a:r>
              <a:rPr lang="en-US" dirty="0" err="1"/>
              <a:t>verder</a:t>
            </a:r>
            <a:r>
              <a:rPr lang="en-US" dirty="0"/>
              <a:t>!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ML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modellen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zijn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veel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breder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auto-ml of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tabPFN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heeft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waarschijnlijk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betere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performance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OOF fitting (k=3) is 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geval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sterke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beperker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!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53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FFD1-F4B1-0596-52DE-628F6028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Hoe zit het dan met die bias?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089DA-4C84-1A58-A6A8-624A03A5C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 2. </a:t>
            </a:r>
          </a:p>
          <a:p>
            <a:r>
              <a:rPr lang="en-US" dirty="0"/>
              <a:t>Scenario 5.</a:t>
            </a:r>
          </a:p>
        </p:txBody>
      </p:sp>
    </p:spTree>
    <p:extLst>
      <p:ext uri="{BB962C8B-B14F-4D97-AF65-F5344CB8AC3E}">
        <p14:creationId xmlns:p14="http://schemas.microsoft.com/office/powerpoint/2010/main" val="284919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529</Words>
  <Application>Microsoft Office PowerPoint</Application>
  <PresentationFormat>Widescreen</PresentationFormat>
  <Paragraphs>81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Meeting 20/04</vt:lpstr>
      <vt:lpstr>ML performance</vt:lpstr>
      <vt:lpstr>Scenario 1: linear, stationary effects (R2 = 0.05)</vt:lpstr>
      <vt:lpstr>Scenario 1: linear, stationary effects (R2 = 0.05)</vt:lpstr>
      <vt:lpstr>Scenario 1: linear, stationary effects (R2 = 0.05)</vt:lpstr>
      <vt:lpstr>Scenario 2: non-linear, stationary effects (R2 = 0.05, NL =0.4)</vt:lpstr>
      <vt:lpstr>Scenario 2: non-linear, stationary effects (R2 = 0.05, NL =0.4)</vt:lpstr>
      <vt:lpstr>Scenario 2: non-linear, stationary effects (R2 = 0.05, NL =0.4)</vt:lpstr>
      <vt:lpstr>Scenario 3: non-linear, varying effects (R2 = c(.05, .08), NL =.4)</vt:lpstr>
      <vt:lpstr>Scenario 3: non-linear, varying effects (R2 = c(.05, .08), NL =.4)</vt:lpstr>
      <vt:lpstr>Scenario 3: non-linear, varying effects (R2 = c(.05, .08), NL =.4)</vt:lpstr>
      <vt:lpstr>Scenario 5: non-linear, varying effects (R2 = c(.05, .08), NL =.4),   omitting c1 and c2. </vt:lpstr>
      <vt:lpstr>Scenario 5: non-linear, varying effects (R2 = c(.05, .08), NL =.4),   omitting c1 and c2. </vt:lpstr>
      <vt:lpstr>Scenario 5: non-linear, varying effects (R2 = c(.05, .08), NL =.4),   omitting c1 and c2. </vt:lpstr>
      <vt:lpstr>Take-aways</vt:lpstr>
      <vt:lpstr>Hoe zit het dan met die bias?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7</cp:revision>
  <dcterms:created xsi:type="dcterms:W3CDTF">2026-04-20T08:50:03Z</dcterms:created>
  <dcterms:modified xsi:type="dcterms:W3CDTF">2026-04-20T10:29:36Z</dcterms:modified>
</cp:coreProperties>
</file>